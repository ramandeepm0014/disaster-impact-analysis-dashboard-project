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16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746"/>
                </a:solidFill>
                <a:latin typeface="Arial"/>
              </a:defRPr>
            </a:pPr>
            <a:r>
              <a:rPr lang="en-US" sz="1300" b="0" i="0" u="none" strike="noStrike">
                <a:solidFill>
                  <a:srgbClr val="1B3746"/>
                </a:solidFill>
                <a:latin typeface="Arial"/>
              </a:rPr>
              <a:t>Event Count by Disaster Type (2010–2025)</a:t>
            </a:r>
          </a:p>
        </c:rich>
      </c:tx>
      <c:layout/>
      <c:overlay val="0"/>
    </c:title>
    <c:autoTitleDeleted val="0"/>
    <c:plotArea>
      <c:layout/>
      <c:barChart>
        <c:barDir val="col"/>
        <c:grouping val="clustered"/>
        <c:varyColors val="0"/>
        <c:ser>
          <c:idx val="0"/>
          <c:order val="0"/>
          <c:tx>
            <c:strRef>
              <c:f>Sheet1!$B$1</c:f>
              <c:strCache>
                <c:ptCount val="1"/>
                <c:pt idx="0">
                  <c:v>Events</c:v>
                </c:pt>
              </c:strCache>
            </c:strRef>
          </c:tx>
          <c:spPr>
            <a:solidFill>
              <a:srgbClr val="E4572E"/>
            </a:solidFill>
            <a:effectLst/>
          </c:spPr>
          <c:invertIfNegative val="0"/>
          <c:dLbls>
            <c:numFmt formatCode="#,##0" sourceLinked="0"/>
            <c:spPr>
              <a:noFill/>
              <a:ln>
                <a:noFill/>
              </a:ln>
              <a:effectLst/>
            </c:spPr>
            <c:txPr>
              <a:bodyPr/>
              <a:lstStyle/>
              <a:p>
                <a:pPr>
                  <a:defRPr sz="100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Drought</c:v>
                </c:pt>
                <c:pt idx="1">
                  <c:v>Heatwave</c:v>
                </c:pt>
                <c:pt idx="2">
                  <c:v>Tsunami</c:v>
                </c:pt>
                <c:pt idx="3">
                  <c:v>Landslide</c:v>
                </c:pt>
                <c:pt idx="4">
                  <c:v>Wildfire</c:v>
                </c:pt>
                <c:pt idx="5">
                  <c:v>Flood</c:v>
                </c:pt>
                <c:pt idx="6">
                  <c:v>Earthquake</c:v>
                </c:pt>
                <c:pt idx="7">
                  <c:v>Cyclone</c:v>
                </c:pt>
              </c:strCache>
            </c:strRef>
          </c:cat>
          <c:val>
            <c:numRef>
              <c:f>Sheet1!$B$2:$B$9</c:f>
              <c:numCache>
                <c:formatCode>General</c:formatCode>
                <c:ptCount val="8"/>
                <c:pt idx="0">
                  <c:v>91</c:v>
                </c:pt>
                <c:pt idx="1">
                  <c:v>91</c:v>
                </c:pt>
                <c:pt idx="2">
                  <c:v>89</c:v>
                </c:pt>
                <c:pt idx="3">
                  <c:v>88</c:v>
                </c:pt>
                <c:pt idx="4">
                  <c:v>83</c:v>
                </c:pt>
                <c:pt idx="5">
                  <c:v>76</c:v>
                </c:pt>
                <c:pt idx="6">
                  <c:v>76</c:v>
                </c:pt>
                <c:pt idx="7">
                  <c:v>69</c:v>
                </c:pt>
              </c:numCache>
            </c:numRef>
          </c:val>
          <c:extLst>
            <c:ext xmlns:c16="http://schemas.microsoft.com/office/drawing/2014/chart" uri="{C3380CC4-5D6E-409C-BE32-E72D297353CC}">
              <c16:uniqueId val="{00000000-77DE-432B-A343-3251BEEA722B}"/>
            </c:ext>
          </c:extLst>
        </c:ser>
        <c:dLbls>
          <c:showLegendKey val="0"/>
          <c:showVal val="1"/>
          <c:showCatName val="0"/>
          <c:showSerName val="0"/>
          <c:showPercent val="0"/>
          <c:showBubbleSize val="0"/>
        </c:dLbls>
        <c:gapWidth val="150"/>
        <c:axId val="1659783392"/>
        <c:axId val="1659772512"/>
      </c:barChart>
      <c:catAx>
        <c:axId val="165978339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7280"/>
                </a:solidFill>
                <a:latin typeface="Arial"/>
              </a:defRPr>
            </a:pPr>
            <a:endParaRPr lang="en-US"/>
          </a:p>
        </c:txPr>
        <c:crossAx val="1659772512"/>
        <c:crosses val="autoZero"/>
        <c:auto val="1"/>
        <c:lblAlgn val="ctr"/>
        <c:lblOffset val="100"/>
        <c:noMultiLvlLbl val="1"/>
      </c:catAx>
      <c:valAx>
        <c:axId val="165977251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3392"/>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746"/>
                </a:solidFill>
                <a:latin typeface="Arial"/>
              </a:defRPr>
            </a:pPr>
            <a:r>
              <a:rPr lang="en-US" sz="1300" b="0" i="0" u="none" strike="noStrike">
                <a:solidFill>
                  <a:srgbClr val="1B3746"/>
                </a:solidFill>
                <a:latin typeface="Arial"/>
              </a:rPr>
              <a:t>Share of Total Economic Damage</a:t>
            </a:r>
          </a:p>
        </c:rich>
      </c:tx>
      <c:layout/>
      <c:overlay val="0"/>
    </c:title>
    <c:autoTitleDeleted val="0"/>
    <c:plotArea>
      <c:layout/>
      <c:pieChart>
        <c:varyColors val="1"/>
        <c:ser>
          <c:idx val="0"/>
          <c:order val="0"/>
          <c:tx>
            <c:strRef>
              <c:f>Sheet1!$B$1</c:f>
              <c:strCache>
                <c:ptCount val="1"/>
                <c:pt idx="0">
                  <c:v>Damage</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extLst>
              <c:ext xmlns:c16="http://schemas.microsoft.com/office/drawing/2014/chart" uri="{C3380CC4-5D6E-409C-BE32-E72D297353CC}">
                <c16:uniqueId val="{00000001-8DBC-4651-8DA2-FA3CCE8C98B2}"/>
              </c:ext>
            </c:extLst>
          </c:dPt>
          <c:dPt>
            <c:idx val="1"/>
            <c:bubble3D val="0"/>
            <c:spPr>
              <a:solidFill>
                <a:srgbClr val="3E7C8C"/>
              </a:solidFill>
              <a:effectLst/>
            </c:spPr>
            <c:extLst>
              <c:ext xmlns:c16="http://schemas.microsoft.com/office/drawing/2014/chart" uri="{C3380CC4-5D6E-409C-BE32-E72D297353CC}">
                <c16:uniqueId val="{00000003-8DBC-4651-8DA2-FA3CCE8C98B2}"/>
              </c:ext>
            </c:extLst>
          </c:dPt>
          <c:dPt>
            <c:idx val="2"/>
            <c:bubble3D val="0"/>
            <c:spPr>
              <a:solidFill>
                <a:srgbClr val="F2A65A"/>
              </a:solidFill>
              <a:effectLst/>
            </c:spPr>
            <c:extLst>
              <c:ext xmlns:c16="http://schemas.microsoft.com/office/drawing/2014/chart" uri="{C3380CC4-5D6E-409C-BE32-E72D297353CC}">
                <c16:uniqueId val="{00000005-8DBC-4651-8DA2-FA3CCE8C98B2}"/>
              </c:ext>
            </c:extLst>
          </c:dPt>
          <c:dPt>
            <c:idx val="3"/>
            <c:bubble3D val="0"/>
            <c:spPr>
              <a:solidFill>
                <a:srgbClr val="89A6AE"/>
              </a:solidFill>
              <a:effectLst/>
            </c:spPr>
            <c:extLst>
              <c:ext xmlns:c16="http://schemas.microsoft.com/office/drawing/2014/chart" uri="{C3380CC4-5D6E-409C-BE32-E72D297353CC}">
                <c16:uniqueId val="{00000007-8DBC-4651-8DA2-FA3CCE8C98B2}"/>
              </c:ext>
            </c:extLst>
          </c:dPt>
          <c:dPt>
            <c:idx val="4"/>
            <c:bubble3D val="0"/>
            <c:spPr>
              <a:solidFill>
                <a:srgbClr val="C1443B"/>
              </a:solidFill>
              <a:effectLst/>
            </c:spPr>
            <c:extLst>
              <c:ext xmlns:c16="http://schemas.microsoft.com/office/drawing/2014/chart" uri="{C3380CC4-5D6E-409C-BE32-E72D297353CC}">
                <c16:uniqueId val="{00000009-8DBC-4651-8DA2-FA3CCE8C98B2}"/>
              </c:ext>
            </c:extLst>
          </c:dPt>
          <c:dPt>
            <c:idx val="5"/>
            <c:bubble3D val="0"/>
            <c:spPr>
              <a:solidFill>
                <a:srgbClr val="6FA8A0"/>
              </a:solidFill>
              <a:effectLst/>
            </c:spPr>
            <c:extLst>
              <c:ext xmlns:c16="http://schemas.microsoft.com/office/drawing/2014/chart" uri="{C3380CC4-5D6E-409C-BE32-E72D297353CC}">
                <c16:uniqueId val="{0000000B-8DBC-4651-8DA2-FA3CCE8C98B2}"/>
              </c:ext>
            </c:extLst>
          </c:dPt>
          <c:dPt>
            <c:idx val="6"/>
            <c:bubble3D val="0"/>
            <c:spPr>
              <a:solidFill>
                <a:srgbClr val="D9A441"/>
              </a:solidFill>
              <a:effectLst/>
            </c:spPr>
            <c:extLst>
              <c:ext xmlns:c16="http://schemas.microsoft.com/office/drawing/2014/chart" uri="{C3380CC4-5D6E-409C-BE32-E72D297353CC}">
                <c16:uniqueId val="{0000000D-8DBC-4651-8DA2-FA3CCE8C98B2}"/>
              </c:ext>
            </c:extLst>
          </c:dPt>
          <c:dPt>
            <c:idx val="7"/>
            <c:bubble3D val="0"/>
            <c:spPr>
              <a:solidFill>
                <a:srgbClr val="4A6B76"/>
              </a:solidFill>
              <a:effectLst/>
            </c:spPr>
            <c:extLst>
              <c:ext xmlns:c16="http://schemas.microsoft.com/office/drawing/2014/chart" uri="{C3380CC4-5D6E-409C-BE32-E72D297353CC}">
                <c16:uniqueId val="{0000000F-8DBC-4651-8DA2-FA3CCE8C98B2}"/>
              </c:ext>
            </c:extLst>
          </c:dPt>
          <c:dLbls>
            <c:dLbl>
              <c:idx val="0"/>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8DBC-4651-8DA2-FA3CCE8C98B2}"/>
                </c:ext>
              </c:extLst>
            </c:dLbl>
            <c:dLbl>
              <c:idx val="1"/>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8DBC-4651-8DA2-FA3CCE8C98B2}"/>
                </c:ext>
              </c:extLst>
            </c:dLbl>
            <c:dLbl>
              <c:idx val="2"/>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8DBC-4651-8DA2-FA3CCE8C98B2}"/>
                </c:ext>
              </c:extLst>
            </c:dLbl>
            <c:dLbl>
              <c:idx val="3"/>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7-8DBC-4651-8DA2-FA3CCE8C98B2}"/>
                </c:ext>
              </c:extLst>
            </c:dLbl>
            <c:dLbl>
              <c:idx val="4"/>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9-8DBC-4651-8DA2-FA3CCE8C98B2}"/>
                </c:ext>
              </c:extLst>
            </c:dLbl>
            <c:dLbl>
              <c:idx val="5"/>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B-8DBC-4651-8DA2-FA3CCE8C98B2}"/>
                </c:ext>
              </c:extLst>
            </c:dLbl>
            <c:dLbl>
              <c:idx val="6"/>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D-8DBC-4651-8DA2-FA3CCE8C98B2}"/>
                </c:ext>
              </c:extLst>
            </c:dLbl>
            <c:dLbl>
              <c:idx val="7"/>
              <c:layout/>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F-8DBC-4651-8DA2-FA3CCE8C98B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Sheet1!$A$2:$A$9</c:f>
              <c:strCache>
                <c:ptCount val="8"/>
                <c:pt idx="0">
                  <c:v>Tsunami</c:v>
                </c:pt>
                <c:pt idx="1">
                  <c:v>Heatwave</c:v>
                </c:pt>
                <c:pt idx="2">
                  <c:v>Drought</c:v>
                </c:pt>
                <c:pt idx="3">
                  <c:v>Flood</c:v>
                </c:pt>
                <c:pt idx="4">
                  <c:v>Wildfire</c:v>
                </c:pt>
                <c:pt idx="5">
                  <c:v>Landslide</c:v>
                </c:pt>
                <c:pt idx="6">
                  <c:v>Earthquake</c:v>
                </c:pt>
                <c:pt idx="7">
                  <c:v>Cyclone</c:v>
                </c:pt>
              </c:strCache>
            </c:strRef>
          </c:cat>
          <c:val>
            <c:numRef>
              <c:f>Sheet1!$B$2:$B$9</c:f>
              <c:numCache>
                <c:formatCode>General</c:formatCode>
                <c:ptCount val="8"/>
                <c:pt idx="0">
                  <c:v>2212619</c:v>
                </c:pt>
                <c:pt idx="1">
                  <c:v>2197714</c:v>
                </c:pt>
                <c:pt idx="2">
                  <c:v>2069378</c:v>
                </c:pt>
                <c:pt idx="3">
                  <c:v>1998100</c:v>
                </c:pt>
                <c:pt idx="4">
                  <c:v>1927792</c:v>
                </c:pt>
                <c:pt idx="5">
                  <c:v>1890530</c:v>
                </c:pt>
                <c:pt idx="6">
                  <c:v>1796704</c:v>
                </c:pt>
                <c:pt idx="7">
                  <c:v>1791014</c:v>
                </c:pt>
              </c:numCache>
            </c:numRef>
          </c:val>
          <c:extLst>
            <c:ext xmlns:c16="http://schemas.microsoft.com/office/drawing/2014/chart" uri="{C3380CC4-5D6E-409C-BE32-E72D297353CC}">
              <c16:uniqueId val="{00000010-8DBC-4651-8DA2-FA3CCE8C98B2}"/>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txPr>
        <a:bodyPr/>
        <a:lstStyle/>
        <a:p>
          <a:pPr>
            <a:defRPr sz="1050">
              <a:solidFill>
                <a:srgbClr val="1B374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746"/>
                </a:solidFill>
                <a:latin typeface="Arial"/>
              </a:defRPr>
            </a:pPr>
            <a:r>
              <a:rPr lang="en-US" sz="1300" b="0" i="0" u="none" strike="noStrike">
                <a:solidFill>
                  <a:srgbClr val="1B3746"/>
                </a:solidFill>
                <a:latin typeface="Arial"/>
              </a:rPr>
              <a:t>663 Events by Severity Tier</a:t>
            </a:r>
          </a:p>
        </c:rich>
      </c:tx>
      <c:layout/>
      <c:overlay val="0"/>
    </c:title>
    <c:autoTitleDeleted val="0"/>
    <c:plotArea>
      <c:layout/>
      <c:doughnutChart>
        <c:varyColors val="1"/>
        <c:ser>
          <c:idx val="0"/>
          <c:order val="0"/>
          <c:tx>
            <c:strRef>
              <c:f>Sheet1!$B$1</c:f>
              <c:strCache>
                <c:ptCount val="1"/>
                <c:pt idx="0">
                  <c:v>Severity</c:v>
                </c:pt>
              </c:strCache>
            </c:strRef>
          </c:tx>
          <c:spPr>
            <a:solidFill>
              <a:schemeClr val="accent1"/>
            </a:solidFill>
            <a:ln w="9525" cap="flat">
              <a:solidFill>
                <a:srgbClr val="F9F9F9"/>
              </a:solidFill>
              <a:prstDash val="solid"/>
              <a:round/>
            </a:ln>
            <a:effectLst/>
          </c:spPr>
          <c:dPt>
            <c:idx val="0"/>
            <c:bubble3D val="0"/>
            <c:spPr>
              <a:solidFill>
                <a:srgbClr val="3E7C8C"/>
              </a:solidFill>
              <a:effectLst/>
            </c:spPr>
            <c:extLst>
              <c:ext xmlns:c16="http://schemas.microsoft.com/office/drawing/2014/chart" uri="{C3380CC4-5D6E-409C-BE32-E72D297353CC}">
                <c16:uniqueId val="{00000001-EA1D-4479-9E4F-1CC4172EF242}"/>
              </c:ext>
            </c:extLst>
          </c:dPt>
          <c:dPt>
            <c:idx val="1"/>
            <c:bubble3D val="0"/>
            <c:spPr>
              <a:solidFill>
                <a:srgbClr val="89A6AE"/>
              </a:solidFill>
              <a:effectLst/>
            </c:spPr>
            <c:extLst>
              <c:ext xmlns:c16="http://schemas.microsoft.com/office/drawing/2014/chart" uri="{C3380CC4-5D6E-409C-BE32-E72D297353CC}">
                <c16:uniqueId val="{00000003-EA1D-4479-9E4F-1CC4172EF242}"/>
              </c:ext>
            </c:extLst>
          </c:dPt>
          <c:dPt>
            <c:idx val="2"/>
            <c:bubble3D val="0"/>
            <c:spPr>
              <a:solidFill>
                <a:srgbClr val="F2A65A"/>
              </a:solidFill>
              <a:effectLst/>
            </c:spPr>
            <c:extLst>
              <c:ext xmlns:c16="http://schemas.microsoft.com/office/drawing/2014/chart" uri="{C3380CC4-5D6E-409C-BE32-E72D297353CC}">
                <c16:uniqueId val="{00000005-EA1D-4479-9E4F-1CC4172EF242}"/>
              </c:ext>
            </c:extLst>
          </c:dPt>
          <c:dPt>
            <c:idx val="3"/>
            <c:bubble3D val="0"/>
            <c:spPr>
              <a:solidFill>
                <a:srgbClr val="E4572E"/>
              </a:solidFill>
              <a:effectLst/>
            </c:spPr>
            <c:extLst>
              <c:ext xmlns:c16="http://schemas.microsoft.com/office/drawing/2014/chart" uri="{C3380CC4-5D6E-409C-BE32-E72D297353CC}">
                <c16:uniqueId val="{00000007-EA1D-4479-9E4F-1CC4172EF242}"/>
              </c:ext>
            </c:extLst>
          </c:dPt>
          <c:dLbls>
            <c:dLbl>
              <c:idx val="0"/>
              <c:layout/>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EA1D-4479-9E4F-1CC4172EF242}"/>
                </c:ext>
              </c:extLst>
            </c:dLbl>
            <c:dLbl>
              <c:idx val="1"/>
              <c:layout/>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EA1D-4479-9E4F-1CC4172EF242}"/>
                </c:ext>
              </c:extLst>
            </c:dLbl>
            <c:dLbl>
              <c:idx val="2"/>
              <c:layout/>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EA1D-4479-9E4F-1CC4172EF242}"/>
                </c:ext>
              </c:extLst>
            </c:dLbl>
            <c:dLbl>
              <c:idx val="3"/>
              <c:layout/>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7-EA1D-4479-9E4F-1CC4172EF24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Moderate</c:v>
                </c:pt>
                <c:pt idx="1">
                  <c:v>Low</c:v>
                </c:pt>
                <c:pt idx="2">
                  <c:v>High</c:v>
                </c:pt>
                <c:pt idx="3">
                  <c:v>Extreme</c:v>
                </c:pt>
              </c:strCache>
            </c:strRef>
          </c:cat>
          <c:val>
            <c:numRef>
              <c:f>Sheet1!$B$2:$B$5</c:f>
              <c:numCache>
                <c:formatCode>General</c:formatCode>
                <c:ptCount val="4"/>
                <c:pt idx="0">
                  <c:v>236</c:v>
                </c:pt>
                <c:pt idx="1">
                  <c:v>189</c:v>
                </c:pt>
                <c:pt idx="2">
                  <c:v>171</c:v>
                </c:pt>
                <c:pt idx="3">
                  <c:v>67</c:v>
                </c:pt>
              </c:numCache>
            </c:numRef>
          </c:val>
          <c:extLst>
            <c:ext xmlns:c16="http://schemas.microsoft.com/office/drawing/2014/chart" uri="{C3380CC4-5D6E-409C-BE32-E72D297353CC}">
              <c16:uniqueId val="{00000008-EA1D-4479-9E4F-1CC4172EF24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layout/>
      <c:overlay val="0"/>
      <c:txPr>
        <a:bodyPr/>
        <a:lstStyle/>
        <a:p>
          <a:pPr>
            <a:defRPr sz="1050">
              <a:solidFill>
                <a:srgbClr val="1B3746"/>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746"/>
                </a:solidFill>
                <a:latin typeface="Arial"/>
              </a:defRPr>
            </a:pPr>
            <a:r>
              <a:rPr lang="en-IN" sz="1300" b="0" i="0" u="none" strike="noStrike">
                <a:solidFill>
                  <a:srgbClr val="1B3746"/>
                </a:solidFill>
                <a:latin typeface="Arial"/>
              </a:rPr>
              <a:t>Disaster Events by City</a:t>
            </a:r>
          </a:p>
        </c:rich>
      </c:tx>
      <c:layout/>
      <c:overlay val="0"/>
    </c:title>
    <c:autoTitleDeleted val="0"/>
    <c:plotArea>
      <c:layout/>
      <c:barChart>
        <c:barDir val="bar"/>
        <c:grouping val="clustered"/>
        <c:varyColors val="0"/>
        <c:ser>
          <c:idx val="0"/>
          <c:order val="0"/>
          <c:tx>
            <c:strRef>
              <c:f>Sheet1!$B$1</c:f>
              <c:strCache>
                <c:ptCount val="1"/>
                <c:pt idx="0">
                  <c:v>Events</c:v>
                </c:pt>
              </c:strCache>
            </c:strRef>
          </c:tx>
          <c:spPr>
            <a:solidFill>
              <a:srgbClr val="3E7C8C"/>
            </a:solidFill>
            <a:effectLst/>
          </c:spPr>
          <c:invertIfNegative val="0"/>
          <c:dLbls>
            <c:numFmt formatCode="#,##0" sourceLinked="0"/>
            <c:spPr>
              <a:noFill/>
              <a:ln>
                <a:noFill/>
              </a:ln>
              <a:effectLst/>
            </c:spPr>
            <c:txPr>
              <a:bodyPr/>
              <a:lstStyle/>
              <a:p>
                <a:pPr>
                  <a:defRPr sz="105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Delhi</c:v>
                </c:pt>
                <c:pt idx="1">
                  <c:v>Mumbai</c:v>
                </c:pt>
                <c:pt idx="2">
                  <c:v>Kolkata</c:v>
                </c:pt>
                <c:pt idx="3">
                  <c:v>Chennai</c:v>
                </c:pt>
              </c:strCache>
            </c:strRef>
          </c:cat>
          <c:val>
            <c:numRef>
              <c:f>Sheet1!$B$2:$B$5</c:f>
              <c:numCache>
                <c:formatCode>General</c:formatCode>
                <c:ptCount val="4"/>
                <c:pt idx="0">
                  <c:v>190</c:v>
                </c:pt>
                <c:pt idx="1">
                  <c:v>165</c:v>
                </c:pt>
                <c:pt idx="2">
                  <c:v>162</c:v>
                </c:pt>
                <c:pt idx="3">
                  <c:v>146</c:v>
                </c:pt>
              </c:numCache>
            </c:numRef>
          </c:val>
          <c:extLst>
            <c:ext xmlns:c16="http://schemas.microsoft.com/office/drawing/2014/chart" uri="{C3380CC4-5D6E-409C-BE32-E72D297353CC}">
              <c16:uniqueId val="{00000000-F481-4FC7-A01B-6C6A558A7588}"/>
            </c:ext>
          </c:extLst>
        </c:ser>
        <c:dLbls>
          <c:showLegendKey val="0"/>
          <c:showVal val="1"/>
          <c:showCatName val="0"/>
          <c:showSerName val="0"/>
          <c:showPercent val="0"/>
          <c:showBubbleSize val="0"/>
        </c:dLbls>
        <c:gapWidth val="150"/>
        <c:axId val="1659784480"/>
        <c:axId val="1659783936"/>
      </c:barChart>
      <c:catAx>
        <c:axId val="165978448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3936"/>
        <c:crosses val="autoZero"/>
        <c:auto val="1"/>
        <c:lblAlgn val="ctr"/>
        <c:lblOffset val="100"/>
        <c:noMultiLvlLbl val="1"/>
      </c:catAx>
      <c:valAx>
        <c:axId val="1659783936"/>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448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746"/>
                </a:solidFill>
                <a:latin typeface="Arial"/>
              </a:defRPr>
            </a:pPr>
            <a:r>
              <a:rPr lang="en-US" sz="1300" b="0" i="0" u="none" strike="noStrike">
                <a:solidFill>
                  <a:srgbClr val="1B3746"/>
                </a:solidFill>
                <a:latin typeface="Arial"/>
              </a:rPr>
              <a:t>Number of Disaster Events per Year</a:t>
            </a:r>
          </a:p>
        </c:rich>
      </c:tx>
      <c:layout/>
      <c:overlay val="0"/>
    </c:title>
    <c:autoTitleDeleted val="0"/>
    <c:plotArea>
      <c:layout/>
      <c:lineChart>
        <c:grouping val="standard"/>
        <c:varyColors val="0"/>
        <c:ser>
          <c:idx val="0"/>
          <c:order val="0"/>
          <c:tx>
            <c:strRef>
              <c:f>Sheet1!$B$1</c:f>
              <c:strCache>
                <c:ptCount val="1"/>
                <c:pt idx="0">
                  <c:v>Events</c:v>
                </c:pt>
              </c:strCache>
            </c:strRef>
          </c:tx>
          <c:spPr>
            <a:ln w="38100" cap="flat">
              <a:solidFill>
                <a:srgbClr val="E4572E"/>
              </a:solidFill>
              <a:prstDash val="solid"/>
              <a:round/>
            </a:ln>
            <a:effectLst/>
          </c:spPr>
          <c:marker>
            <c:symbol val="circle"/>
            <c:size val="6"/>
            <c:spPr>
              <a:solidFill>
                <a:srgbClr val="E4572E"/>
              </a:solidFill>
              <a:ln w="9525" cap="flat">
                <a:solidFill>
                  <a:srgbClr val="E4572E"/>
                </a:solidFill>
                <a:prstDash val="solid"/>
                <a:round/>
              </a:ln>
              <a:effectLst/>
            </c:spPr>
          </c:marker>
          <c:cat>
            <c:strRef>
              <c:f>Sheet1!$A$2:$A$17</c:f>
              <c:strCache>
                <c:ptCount val="16"/>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strCache>
            </c:strRef>
          </c:cat>
          <c:val>
            <c:numRef>
              <c:f>Sheet1!$B$2:$B$17</c:f>
              <c:numCache>
                <c:formatCode>General</c:formatCode>
                <c:ptCount val="16"/>
                <c:pt idx="0">
                  <c:v>36</c:v>
                </c:pt>
                <c:pt idx="1">
                  <c:v>42</c:v>
                </c:pt>
                <c:pt idx="2">
                  <c:v>36</c:v>
                </c:pt>
                <c:pt idx="3">
                  <c:v>40</c:v>
                </c:pt>
                <c:pt idx="4">
                  <c:v>47</c:v>
                </c:pt>
                <c:pt idx="5">
                  <c:v>30</c:v>
                </c:pt>
                <c:pt idx="6">
                  <c:v>49</c:v>
                </c:pt>
                <c:pt idx="7">
                  <c:v>41</c:v>
                </c:pt>
                <c:pt idx="8">
                  <c:v>37</c:v>
                </c:pt>
                <c:pt idx="9">
                  <c:v>49</c:v>
                </c:pt>
                <c:pt idx="10">
                  <c:v>43</c:v>
                </c:pt>
                <c:pt idx="11">
                  <c:v>55</c:v>
                </c:pt>
                <c:pt idx="12">
                  <c:v>42</c:v>
                </c:pt>
                <c:pt idx="13">
                  <c:v>38</c:v>
                </c:pt>
                <c:pt idx="14">
                  <c:v>39</c:v>
                </c:pt>
                <c:pt idx="15">
                  <c:v>39</c:v>
                </c:pt>
              </c:numCache>
            </c:numRef>
          </c:val>
          <c:smooth val="1"/>
          <c:extLst>
            <c:ext xmlns:c16="http://schemas.microsoft.com/office/drawing/2014/chart" uri="{C3380CC4-5D6E-409C-BE32-E72D297353CC}">
              <c16:uniqueId val="{00000000-9083-4F51-B5DD-1F0DCC88AA39}"/>
            </c:ext>
          </c:extLst>
        </c:ser>
        <c:dLbls>
          <c:showLegendKey val="0"/>
          <c:showVal val="0"/>
          <c:showCatName val="0"/>
          <c:showSerName val="0"/>
          <c:showPercent val="0"/>
          <c:showBubbleSize val="0"/>
        </c:dLbls>
        <c:marker val="1"/>
        <c:smooth val="0"/>
        <c:axId val="1659778496"/>
        <c:axId val="1659769792"/>
      </c:lineChart>
      <c:catAx>
        <c:axId val="16597784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7280"/>
                </a:solidFill>
                <a:latin typeface="Arial"/>
              </a:defRPr>
            </a:pPr>
            <a:endParaRPr lang="en-US"/>
          </a:p>
        </c:txPr>
        <c:crossAx val="1659769792"/>
        <c:crosses val="autoZero"/>
        <c:auto val="1"/>
        <c:lblAlgn val="ctr"/>
        <c:lblOffset val="100"/>
        <c:noMultiLvlLbl val="1"/>
      </c:catAx>
      <c:valAx>
        <c:axId val="165976979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78496"/>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3746"/>
                </a:solidFill>
                <a:latin typeface="Arial"/>
              </a:defRPr>
            </a:pPr>
            <a:r>
              <a:rPr lang="en-US" sz="1250" b="0" i="0" u="none" strike="noStrike">
                <a:solidFill>
                  <a:srgbClr val="1B3746"/>
                </a:solidFill>
                <a:latin typeface="Arial"/>
              </a:rPr>
              <a:t>Average Relief Coverage as % of Economic Damage</a:t>
            </a:r>
          </a:p>
        </c:rich>
      </c:tx>
      <c:layout/>
      <c:overlay val="0"/>
    </c:title>
    <c:autoTitleDeleted val="0"/>
    <c:plotArea>
      <c:layout/>
      <c:barChart>
        <c:barDir val="col"/>
        <c:grouping val="clustered"/>
        <c:varyColors val="0"/>
        <c:ser>
          <c:idx val="0"/>
          <c:order val="0"/>
          <c:tx>
            <c:strRef>
              <c:f>Sheet1!$B$1</c:f>
              <c:strCache>
                <c:ptCount val="1"/>
                <c:pt idx="0">
                  <c:v>Avg Coverage %</c:v>
                </c:pt>
              </c:strCache>
            </c:strRef>
          </c:tx>
          <c:spPr>
            <a:solidFill>
              <a:srgbClr val="3E7C8C"/>
            </a:solidFill>
            <a:effectLst/>
          </c:spPr>
          <c:invertIfNegative val="0"/>
          <c:dLbls>
            <c:numFmt formatCode="0.00" sourceLinked="0"/>
            <c:spPr>
              <a:noFill/>
              <a:ln>
                <a:noFill/>
              </a:ln>
              <a:effectLst/>
            </c:spPr>
            <c:txPr>
              <a:bodyPr/>
              <a:lstStyle/>
              <a:p>
                <a:pPr>
                  <a:defRPr sz="100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Tsunami</c:v>
                </c:pt>
                <c:pt idx="1">
                  <c:v>Flood</c:v>
                </c:pt>
                <c:pt idx="2">
                  <c:v>Heatwave</c:v>
                </c:pt>
                <c:pt idx="3">
                  <c:v>Wildfire</c:v>
                </c:pt>
                <c:pt idx="4">
                  <c:v>Landslide</c:v>
                </c:pt>
                <c:pt idx="5">
                  <c:v>Drought</c:v>
                </c:pt>
                <c:pt idx="6">
                  <c:v>Cyclone</c:v>
                </c:pt>
                <c:pt idx="7">
                  <c:v>Earthquake</c:v>
                </c:pt>
              </c:strCache>
            </c:strRef>
          </c:cat>
          <c:val>
            <c:numRef>
              <c:f>Sheet1!$B$2:$B$9</c:f>
              <c:numCache>
                <c:formatCode>General</c:formatCode>
                <c:ptCount val="8"/>
                <c:pt idx="0">
                  <c:v>0.30499999999999999</c:v>
                </c:pt>
                <c:pt idx="1">
                  <c:v>0.40300000000000002</c:v>
                </c:pt>
                <c:pt idx="2">
                  <c:v>0.48299999999999998</c:v>
                </c:pt>
                <c:pt idx="3">
                  <c:v>0.65900000000000003</c:v>
                </c:pt>
                <c:pt idx="4">
                  <c:v>0.76100000000000001</c:v>
                </c:pt>
                <c:pt idx="5">
                  <c:v>0.79300000000000004</c:v>
                </c:pt>
                <c:pt idx="6">
                  <c:v>1.6319999999999999</c:v>
                </c:pt>
                <c:pt idx="7">
                  <c:v>1.742</c:v>
                </c:pt>
              </c:numCache>
            </c:numRef>
          </c:val>
          <c:extLst>
            <c:ext xmlns:c16="http://schemas.microsoft.com/office/drawing/2014/chart" uri="{C3380CC4-5D6E-409C-BE32-E72D297353CC}">
              <c16:uniqueId val="{00000000-B65D-4229-89FE-8B3ABD0AB759}"/>
            </c:ext>
          </c:extLst>
        </c:ser>
        <c:dLbls>
          <c:showLegendKey val="0"/>
          <c:showVal val="1"/>
          <c:showCatName val="0"/>
          <c:showSerName val="0"/>
          <c:showPercent val="0"/>
          <c:showBubbleSize val="0"/>
        </c:dLbls>
        <c:gapWidth val="150"/>
        <c:axId val="1659781760"/>
        <c:axId val="1659782304"/>
      </c:barChart>
      <c:catAx>
        <c:axId val="165978176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280"/>
                </a:solidFill>
                <a:latin typeface="Arial"/>
              </a:defRPr>
            </a:pPr>
            <a:endParaRPr lang="en-US"/>
          </a:p>
        </c:txPr>
        <c:crossAx val="1659782304"/>
        <c:crosses val="autoZero"/>
        <c:auto val="1"/>
        <c:lblAlgn val="ctr"/>
        <c:lblOffset val="100"/>
        <c:noMultiLvlLbl val="1"/>
      </c:catAx>
      <c:valAx>
        <c:axId val="1659782304"/>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Avg. Relief Coverage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176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285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746"/>
        </a:solidFill>
        <a:effectLst/>
      </p:bgPr>
    </p:bg>
    <p:spTree>
      <p:nvGrpSpPr>
        <p:cNvPr id="1" name=""/>
        <p:cNvGrpSpPr/>
        <p:nvPr/>
      </p:nvGrpSpPr>
      <p:grpSpPr>
        <a:xfrm>
          <a:off x="0" y="0"/>
          <a:ext cx="0" cy="0"/>
          <a:chOff x="0" y="0"/>
          <a:chExt cx="0" cy="0"/>
        </a:xfrm>
      </p:grpSpPr>
      <p:sp>
        <p:nvSpPr>
          <p:cNvPr id="2" name="Shape 0"/>
          <p:cNvSpPr/>
          <p:nvPr/>
        </p:nvSpPr>
        <p:spPr>
          <a:xfrm>
            <a:off x="8412480" y="-1828800"/>
            <a:ext cx="6400800" cy="6400800"/>
          </a:xfrm>
          <a:prstGeom prst="ellipse">
            <a:avLst/>
          </a:prstGeom>
          <a:solidFill>
            <a:srgbClr val="122730"/>
          </a:solidFill>
          <a:ln/>
        </p:spPr>
      </p:sp>
      <p:sp>
        <p:nvSpPr>
          <p:cNvPr id="3" name="Shape 1"/>
          <p:cNvSpPr/>
          <p:nvPr/>
        </p:nvSpPr>
        <p:spPr>
          <a:xfrm>
            <a:off x="9692640" y="3291840"/>
            <a:ext cx="4572000" cy="4572000"/>
          </a:xfrm>
          <a:prstGeom prst="ellipse">
            <a:avLst/>
          </a:prstGeom>
          <a:solidFill>
            <a:srgbClr val="3E7C8C">
              <a:alpha val="22000"/>
            </a:srgbClr>
          </a:solidFill>
          <a:ln/>
        </p:spPr>
      </p:sp>
      <p:pic>
        <p:nvPicPr>
          <p:cNvPr id="4" name="Image 0" descr="preencoded.png"/>
          <p:cNvPicPr>
            <a:picLocks noChangeAspect="1"/>
          </p:cNvPicPr>
          <p:nvPr/>
        </p:nvPicPr>
        <p:blipFill>
          <a:blip r:embed="rId3"/>
          <a:stretch>
            <a:fillRect/>
          </a:stretch>
        </p:blipFill>
        <p:spPr>
          <a:xfrm>
            <a:off x="685800" y="822960"/>
            <a:ext cx="502920" cy="502920"/>
          </a:xfrm>
          <a:prstGeom prst="rect">
            <a:avLst/>
          </a:prstGeom>
        </p:spPr>
      </p:pic>
      <p:sp>
        <p:nvSpPr>
          <p:cNvPr id="5" name="Text 2"/>
          <p:cNvSpPr/>
          <p:nvPr/>
        </p:nvSpPr>
        <p:spPr>
          <a:xfrm>
            <a:off x="1280160" y="804672"/>
            <a:ext cx="82296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DISASTER MANAGEMENT &amp; BUSINESS INTELLIGENCE PROJECT</a:t>
            </a:r>
            <a:endParaRPr lang="en-US" sz="1300" dirty="0"/>
          </a:p>
        </p:txBody>
      </p:sp>
      <p:sp>
        <p:nvSpPr>
          <p:cNvPr id="6" name="Text 3"/>
          <p:cNvSpPr/>
          <p:nvPr/>
        </p:nvSpPr>
        <p:spPr>
          <a:xfrm>
            <a:off x="685800" y="1920240"/>
            <a:ext cx="9601200" cy="1920240"/>
          </a:xfrm>
          <a:prstGeom prst="rect">
            <a:avLst/>
          </a:prstGeom>
          <a:noFill/>
          <a:ln/>
        </p:spPr>
        <p:txBody>
          <a:bodyPr wrap="square"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India Disaster Impact</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Analysis Dashboard</a:t>
            </a:r>
            <a:endParaRPr lang="en-US" sz="4600" dirty="0"/>
          </a:p>
        </p:txBody>
      </p:sp>
      <p:sp>
        <p:nvSpPr>
          <p:cNvPr id="7" name="Text 4"/>
          <p:cNvSpPr/>
          <p:nvPr/>
        </p:nvSpPr>
        <p:spPr>
          <a:xfrm>
            <a:off x="713232" y="3977640"/>
            <a:ext cx="8046720" cy="822960"/>
          </a:xfrm>
          <a:prstGeom prst="rect">
            <a:avLst/>
          </a:prstGeom>
          <a:noFill/>
          <a:ln/>
        </p:spPr>
        <p:txBody>
          <a:bodyPr wrap="square" rtlCol="0" anchor="ctr"/>
          <a:lstStyle/>
          <a:p>
            <a:pPr marL="0" indent="0">
              <a:lnSpc>
                <a:spcPct val="120000"/>
              </a:lnSpc>
              <a:buNone/>
            </a:pPr>
            <a:r>
              <a:rPr lang="en-US" sz="1500" i="1" dirty="0">
                <a:solidFill>
                  <a:srgbClr val="F4F6F6"/>
                </a:solidFill>
                <a:latin typeface="Calibri" pitchFamily="34" charset="0"/>
                <a:ea typeface="Calibri" pitchFamily="34" charset="-122"/>
                <a:cs typeface="Calibri" pitchFamily="34" charset="-120"/>
              </a:rPr>
              <a:t>A Power BI–driven study of natural disaster events across India (2010–2025) — examining frequency, human toll, economic loss, and disaster relief effectiveness.</a:t>
            </a:r>
            <a:endParaRPr lang="en-US" sz="1500" dirty="0"/>
          </a:p>
        </p:txBody>
      </p:sp>
      <p:sp>
        <p:nvSpPr>
          <p:cNvPr id="8" name="Text 5"/>
          <p:cNvSpPr/>
          <p:nvPr/>
        </p:nvSpPr>
        <p:spPr>
          <a:xfrm>
            <a:off x="71323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663</a:t>
            </a:r>
            <a:endParaRPr lang="en-US" sz="3000" dirty="0"/>
          </a:p>
        </p:txBody>
      </p:sp>
      <p:sp>
        <p:nvSpPr>
          <p:cNvPr id="9" name="Text 6"/>
          <p:cNvSpPr/>
          <p:nvPr/>
        </p:nvSpPr>
        <p:spPr>
          <a:xfrm>
            <a:off x="71323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DISASTER EVENTS</a:t>
            </a:r>
            <a:endParaRPr lang="en-US" sz="1050" dirty="0"/>
          </a:p>
        </p:txBody>
      </p:sp>
      <p:sp>
        <p:nvSpPr>
          <p:cNvPr id="10" name="Text 7"/>
          <p:cNvSpPr/>
          <p:nvPr/>
        </p:nvSpPr>
        <p:spPr>
          <a:xfrm>
            <a:off x="304495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16</a:t>
            </a:r>
            <a:endParaRPr lang="en-US" sz="3000" dirty="0"/>
          </a:p>
        </p:txBody>
      </p:sp>
      <p:sp>
        <p:nvSpPr>
          <p:cNvPr id="11" name="Text 8"/>
          <p:cNvSpPr/>
          <p:nvPr/>
        </p:nvSpPr>
        <p:spPr>
          <a:xfrm>
            <a:off x="304495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YEARS COVERED</a:t>
            </a:r>
            <a:endParaRPr lang="en-US" sz="1050" dirty="0"/>
          </a:p>
        </p:txBody>
      </p:sp>
      <p:sp>
        <p:nvSpPr>
          <p:cNvPr id="12" name="Text 9"/>
          <p:cNvSpPr/>
          <p:nvPr/>
        </p:nvSpPr>
        <p:spPr>
          <a:xfrm>
            <a:off x="537667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4</a:t>
            </a:r>
            <a:endParaRPr lang="en-US" sz="3000" dirty="0"/>
          </a:p>
        </p:txBody>
      </p:sp>
      <p:sp>
        <p:nvSpPr>
          <p:cNvPr id="13" name="Text 10"/>
          <p:cNvSpPr/>
          <p:nvPr/>
        </p:nvSpPr>
        <p:spPr>
          <a:xfrm>
            <a:off x="537667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CITIES ANALYZED</a:t>
            </a:r>
            <a:endParaRPr lang="en-US" sz="1050" dirty="0"/>
          </a:p>
        </p:txBody>
      </p:sp>
      <p:sp>
        <p:nvSpPr>
          <p:cNvPr id="14" name="Text 11"/>
          <p:cNvSpPr/>
          <p:nvPr/>
        </p:nvSpPr>
        <p:spPr>
          <a:xfrm>
            <a:off x="770839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8</a:t>
            </a:r>
            <a:endParaRPr lang="en-US" sz="3000" dirty="0"/>
          </a:p>
        </p:txBody>
      </p:sp>
      <p:sp>
        <p:nvSpPr>
          <p:cNvPr id="15" name="Text 12"/>
          <p:cNvSpPr/>
          <p:nvPr/>
        </p:nvSpPr>
        <p:spPr>
          <a:xfrm>
            <a:off x="770839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DISASTER TYPES</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What This Project Does</a:t>
            </a:r>
            <a:endParaRPr lang="en-US" sz="3000" dirty="0"/>
          </a:p>
        </p:txBody>
      </p:sp>
      <p:sp>
        <p:nvSpPr>
          <p:cNvPr id="4" name="Text 2"/>
          <p:cNvSpPr/>
          <p:nvPr/>
        </p:nvSpPr>
        <p:spPr>
          <a:xfrm>
            <a:off x="548640" y="1417320"/>
            <a:ext cx="5760720" cy="1920240"/>
          </a:xfrm>
          <a:prstGeom prst="rect">
            <a:avLst/>
          </a:prstGeom>
          <a:noFill/>
          <a:ln/>
        </p:spPr>
        <p:txBody>
          <a:bodyPr wrap="square" rtlCol="0" anchor="ctr"/>
          <a:lstStyle/>
          <a:p>
            <a:pPr marL="0" indent="0">
              <a:lnSpc>
                <a:spcPct val="130000"/>
              </a:lnSpc>
              <a:buNone/>
            </a:pPr>
            <a:r>
              <a:rPr lang="en-US" sz="1400" dirty="0">
                <a:solidFill>
                  <a:srgbClr val="1B3746"/>
                </a:solidFill>
                <a:latin typeface="Calibri" pitchFamily="34" charset="0"/>
                <a:ea typeface="Calibri" pitchFamily="34" charset="-122"/>
                <a:cs typeface="Calibri" pitchFamily="34" charset="-120"/>
              </a:rPr>
              <a:t>The India Disaster Impact Analysis Dashboard provides an interactive overview of natural disasters across India from 2010 to 2025. It analyzes disaster events, deaths, injuries, economic losses, relief funds, and severity across cities and years — helping identify trends, compare affected regions, and support better decisions for disaster preparedness and resource allocation.</a:t>
            </a:r>
            <a:endParaRPr lang="en-US" sz="1400" dirty="0"/>
          </a:p>
        </p:txBody>
      </p:sp>
      <p:sp>
        <p:nvSpPr>
          <p:cNvPr id="5" name="Text 3"/>
          <p:cNvSpPr/>
          <p:nvPr/>
        </p:nvSpPr>
        <p:spPr>
          <a:xfrm>
            <a:off x="548640" y="3337560"/>
            <a:ext cx="5486400" cy="320040"/>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KEY OBJECTIVES</a:t>
            </a:r>
            <a:endParaRPr lang="en-US" sz="1200" dirty="0"/>
          </a:p>
        </p:txBody>
      </p:sp>
      <p:sp>
        <p:nvSpPr>
          <p:cNvPr id="6" name="Text 4"/>
          <p:cNvSpPr/>
          <p:nvPr/>
        </p:nvSpPr>
        <p:spPr>
          <a:xfrm>
            <a:off x="548640" y="3703320"/>
            <a:ext cx="5760720" cy="2743200"/>
          </a:xfrm>
          <a:prstGeom prst="rect">
            <a:avLst/>
          </a:prstGeom>
          <a:noFill/>
          <a:ln/>
        </p:spPr>
        <p:txBody>
          <a:bodyPr wrap="square" rtlCol="0" anchor="ctr"/>
          <a:lstStyle/>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Quantify the human and economic toll of disasters in India</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Compare disaster frequency and severity across major cities</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Track how disaster patterns have shifted from 2010 to 2025</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Evaluate relief-fund coverage against actual economic damage</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Surface insights that support disaster preparedness planning</a:t>
            </a:r>
            <a:endParaRPr lang="en-US" sz="1350" dirty="0"/>
          </a:p>
        </p:txBody>
      </p:sp>
      <p:sp>
        <p:nvSpPr>
          <p:cNvPr id="7" name="Shape 5"/>
          <p:cNvSpPr/>
          <p:nvPr/>
        </p:nvSpPr>
        <p:spPr>
          <a:xfrm>
            <a:off x="6720840" y="1417320"/>
            <a:ext cx="4892040" cy="4937760"/>
          </a:xfrm>
          <a:prstGeom prst="roundRect">
            <a:avLst>
              <a:gd name="adj" fmla="val 1495"/>
            </a:avLst>
          </a:prstGeom>
          <a:solidFill>
            <a:srgbClr val="1B3746"/>
          </a:solidFill>
          <a:ln/>
          <a:effectLst>
            <a:outerShdw blurRad="101600" dist="38100" dir="54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7086600" y="1783080"/>
            <a:ext cx="457200" cy="457200"/>
          </a:xfrm>
          <a:prstGeom prst="rect">
            <a:avLst/>
          </a:prstGeom>
        </p:spPr>
      </p:pic>
      <p:sp>
        <p:nvSpPr>
          <p:cNvPr id="9" name="Text 6"/>
          <p:cNvSpPr/>
          <p:nvPr/>
        </p:nvSpPr>
        <p:spPr>
          <a:xfrm>
            <a:off x="7680960" y="1783080"/>
            <a:ext cx="365760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Scope Snapshot</a:t>
            </a:r>
            <a:endParaRPr lang="en-US" sz="1700" dirty="0"/>
          </a:p>
        </p:txBody>
      </p:sp>
      <p:sp>
        <p:nvSpPr>
          <p:cNvPr id="10" name="Text 7"/>
          <p:cNvSpPr/>
          <p:nvPr/>
        </p:nvSpPr>
        <p:spPr>
          <a:xfrm>
            <a:off x="7086600" y="25146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GEOGRAPHY</a:t>
            </a:r>
            <a:endParaRPr lang="en-US" sz="1000" dirty="0"/>
          </a:p>
        </p:txBody>
      </p:sp>
      <p:sp>
        <p:nvSpPr>
          <p:cNvPr id="11" name="Text 8"/>
          <p:cNvSpPr/>
          <p:nvPr/>
        </p:nvSpPr>
        <p:spPr>
          <a:xfrm>
            <a:off x="7086600" y="27706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Delhi, Mumbai, Kolkata, Chennai</a:t>
            </a:r>
            <a:endParaRPr lang="en-US" sz="1250" dirty="0"/>
          </a:p>
        </p:txBody>
      </p:sp>
      <p:sp>
        <p:nvSpPr>
          <p:cNvPr id="12" name="Text 9"/>
          <p:cNvSpPr/>
          <p:nvPr/>
        </p:nvSpPr>
        <p:spPr>
          <a:xfrm>
            <a:off x="7086600" y="32004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TIME SPAN</a:t>
            </a:r>
            <a:endParaRPr lang="en-US" sz="1000" dirty="0"/>
          </a:p>
        </p:txBody>
      </p:sp>
      <p:sp>
        <p:nvSpPr>
          <p:cNvPr id="13" name="Text 10"/>
          <p:cNvSpPr/>
          <p:nvPr/>
        </p:nvSpPr>
        <p:spPr>
          <a:xfrm>
            <a:off x="7086600" y="34564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2010–2025 (16 years)</a:t>
            </a:r>
            <a:endParaRPr lang="en-US" sz="1250" dirty="0"/>
          </a:p>
        </p:txBody>
      </p:sp>
      <p:sp>
        <p:nvSpPr>
          <p:cNvPr id="14" name="Text 11"/>
          <p:cNvSpPr/>
          <p:nvPr/>
        </p:nvSpPr>
        <p:spPr>
          <a:xfrm>
            <a:off x="7086600" y="38862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DISASTER TYPES</a:t>
            </a:r>
            <a:endParaRPr lang="en-US" sz="1000" dirty="0"/>
          </a:p>
        </p:txBody>
      </p:sp>
      <p:sp>
        <p:nvSpPr>
          <p:cNvPr id="15" name="Text 12"/>
          <p:cNvSpPr/>
          <p:nvPr/>
        </p:nvSpPr>
        <p:spPr>
          <a:xfrm>
            <a:off x="7086600" y="41422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Cyclone, Earthquake, Flood, Heatwave,</a:t>
            </a:r>
            <a:endParaRPr lang="en-US" sz="1250" dirty="0"/>
          </a:p>
          <a:p>
            <a:pPr marL="0" indent="0">
              <a:buNone/>
            </a:pPr>
            <a:r>
              <a:rPr lang="en-US" sz="1250" dirty="0">
                <a:solidFill>
                  <a:srgbClr val="F4F6F6"/>
                </a:solidFill>
                <a:latin typeface="Calibri" pitchFamily="34" charset="0"/>
                <a:ea typeface="Calibri" pitchFamily="34" charset="-122"/>
                <a:cs typeface="Calibri" pitchFamily="34" charset="-120"/>
              </a:rPr>
              <a:t>Wildfire, Tsunami, Landslide, Drought</a:t>
            </a:r>
            <a:endParaRPr lang="en-US" sz="1250" dirty="0"/>
          </a:p>
        </p:txBody>
      </p:sp>
      <p:sp>
        <p:nvSpPr>
          <p:cNvPr id="16" name="Text 13"/>
          <p:cNvSpPr/>
          <p:nvPr/>
        </p:nvSpPr>
        <p:spPr>
          <a:xfrm>
            <a:off x="7086600" y="45720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SEVERITY TIERS</a:t>
            </a:r>
            <a:endParaRPr lang="en-US" sz="1000" dirty="0"/>
          </a:p>
        </p:txBody>
      </p:sp>
      <p:sp>
        <p:nvSpPr>
          <p:cNvPr id="17" name="Text 14"/>
          <p:cNvSpPr/>
          <p:nvPr/>
        </p:nvSpPr>
        <p:spPr>
          <a:xfrm>
            <a:off x="7086600" y="48280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Low · Moderate · High · Extreme</a:t>
            </a:r>
            <a:endParaRPr lang="en-US" sz="1250" dirty="0"/>
          </a:p>
        </p:txBody>
      </p:sp>
      <p:sp>
        <p:nvSpPr>
          <p:cNvPr id="18" name="Text 15"/>
          <p:cNvSpPr/>
          <p:nvPr/>
        </p:nvSpPr>
        <p:spPr>
          <a:xfrm>
            <a:off x="7086600" y="52578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RECORDS ANALYZED</a:t>
            </a:r>
            <a:endParaRPr lang="en-US" sz="1000" dirty="0"/>
          </a:p>
        </p:txBody>
      </p:sp>
      <p:sp>
        <p:nvSpPr>
          <p:cNvPr id="19" name="Text 16"/>
          <p:cNvSpPr/>
          <p:nvPr/>
        </p:nvSpPr>
        <p:spPr>
          <a:xfrm>
            <a:off x="7086600" y="55138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663 logged disaster events</a:t>
            </a:r>
            <a:endParaRPr lang="en-US" sz="1250" dirty="0"/>
          </a:p>
        </p:txBody>
      </p:sp>
      <p:sp>
        <p:nvSpPr>
          <p:cNvPr id="20" name="Text 17"/>
          <p:cNvSpPr/>
          <p:nvPr/>
        </p:nvSpPr>
        <p:spPr>
          <a:xfrm>
            <a:off x="7086600" y="59436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TOOL USED</a:t>
            </a:r>
            <a:endParaRPr lang="en-US" sz="1000" dirty="0"/>
          </a:p>
        </p:txBody>
      </p:sp>
      <p:sp>
        <p:nvSpPr>
          <p:cNvPr id="21" name="Text 18"/>
          <p:cNvSpPr/>
          <p:nvPr/>
        </p:nvSpPr>
        <p:spPr>
          <a:xfrm>
            <a:off x="7086600" y="61996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Microsoft Power BI (interactive dashboard)</a:t>
            </a:r>
            <a:endParaRPr lang="en-US" sz="1250" dirty="0"/>
          </a:p>
        </p:txBody>
      </p:sp>
      <p:sp>
        <p:nvSpPr>
          <p:cNvPr id="22" name="Text 19"/>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3"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Dataset &amp; Analysis Approach</a:t>
            </a:r>
            <a:endParaRPr lang="en-US" sz="3000" dirty="0"/>
          </a:p>
        </p:txBody>
      </p:sp>
      <p:pic>
        <p:nvPicPr>
          <p:cNvPr id="4" name="Image 0" descr="preencoded.png"/>
          <p:cNvPicPr>
            <a:picLocks noChangeAspect="1"/>
          </p:cNvPicPr>
          <p:nvPr/>
        </p:nvPicPr>
        <p:blipFill>
          <a:blip r:embed="rId3"/>
          <a:stretch>
            <a:fillRect/>
          </a:stretch>
        </p:blipFill>
        <p:spPr>
          <a:xfrm>
            <a:off x="91440" y="1691640"/>
            <a:ext cx="914400" cy="589000"/>
          </a:xfrm>
          <a:prstGeom prst="rect">
            <a:avLst/>
          </a:prstGeom>
        </p:spPr>
      </p:pic>
      <p:sp>
        <p:nvSpPr>
          <p:cNvPr id="5" name="Text 2"/>
          <p:cNvSpPr/>
          <p:nvPr/>
        </p:nvSpPr>
        <p:spPr>
          <a:xfrm>
            <a:off x="548640" y="1417320"/>
            <a:ext cx="5486400" cy="292608"/>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DATASET FIELDS (Sheet1)</a:t>
            </a:r>
            <a:endParaRPr lang="en-US" sz="1200" dirty="0"/>
          </a:p>
        </p:txBody>
      </p:sp>
      <p:sp>
        <p:nvSpPr>
          <p:cNvPr id="6" name="Text 3"/>
          <p:cNvSpPr/>
          <p:nvPr/>
        </p:nvSpPr>
        <p:spPr>
          <a:xfrm>
            <a:off x="548640" y="1783080"/>
            <a:ext cx="5669280" cy="2743200"/>
          </a:xfrm>
          <a:prstGeom prst="rect">
            <a:avLst/>
          </a:prstGeom>
          <a:noFill/>
          <a:ln/>
        </p:spPr>
        <p:txBody>
          <a:bodyPr wrap="square" rtlCol="0" anchor="ctr"/>
          <a:lstStyle/>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Disaster_ID, Date, Year, Month</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Country, City, Continent, Latitude / Longitude</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Disaster_Type, Severity, Magnitude</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Deaths, Injured, Affected_Population</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Economic_Damage_USD, Relief_Funds_USD</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Recovery_Days, Relief_Coverage_%, Funding_Gap</a:t>
            </a:r>
            <a:endParaRPr lang="en-US" sz="1300" dirty="0"/>
          </a:p>
        </p:txBody>
      </p:sp>
      <p:sp>
        <p:nvSpPr>
          <p:cNvPr id="7" name="Shape 4"/>
          <p:cNvSpPr/>
          <p:nvPr/>
        </p:nvSpPr>
        <p:spPr>
          <a:xfrm>
            <a:off x="548640" y="4617720"/>
            <a:ext cx="5669280" cy="1737360"/>
          </a:xfrm>
          <a:prstGeom prst="roundRect">
            <a:avLst>
              <a:gd name="adj" fmla="val 4211"/>
            </a:avLst>
          </a:prstGeom>
          <a:solidFill>
            <a:srgbClr val="F4F6F6"/>
          </a:solidFill>
          <a:ln/>
        </p:spPr>
      </p:sp>
      <p:sp>
        <p:nvSpPr>
          <p:cNvPr id="8" name="Text 5"/>
          <p:cNvSpPr/>
          <p:nvPr/>
        </p:nvSpPr>
        <p:spPr>
          <a:xfrm>
            <a:off x="777240" y="4800600"/>
            <a:ext cx="5212080" cy="1371600"/>
          </a:xfrm>
          <a:prstGeom prst="rect">
            <a:avLst/>
          </a:prstGeom>
          <a:noFill/>
          <a:ln/>
        </p:spPr>
        <p:txBody>
          <a:bodyPr wrap="square" rtlCol="0" anchor="ctr"/>
          <a:lstStyle/>
          <a:p>
            <a:pPr marL="0" indent="0">
              <a:lnSpc>
                <a:spcPct val="125000"/>
              </a:lnSpc>
              <a:spcAft>
                <a:spcPts val="400"/>
              </a:spcAft>
              <a:buNone/>
            </a:pPr>
            <a:r>
              <a:rPr lang="en-US" sz="1250" b="1" dirty="0">
                <a:solidFill>
                  <a:srgbClr val="1B3746"/>
                </a:solidFill>
                <a:latin typeface="Calibri" pitchFamily="34" charset="0"/>
                <a:ea typeface="Calibri" pitchFamily="34" charset="-122"/>
                <a:cs typeface="Calibri" pitchFamily="34" charset="-120"/>
              </a:rPr>
              <a:t>23 fields · 663 rows · 4 cities · 8 disaster types</a:t>
            </a:r>
            <a:endParaRPr lang="en-US" sz="1250" dirty="0"/>
          </a:p>
          <a:p>
            <a:pPr marL="0" indent="0">
              <a:lnSpc>
                <a:spcPct val="125000"/>
              </a:lnSpc>
              <a:buNone/>
            </a:pPr>
            <a:r>
              <a:rPr lang="en-US" sz="1250" dirty="0">
                <a:solidFill>
                  <a:srgbClr val="1B3746"/>
                </a:solidFill>
                <a:latin typeface="Calibri" pitchFamily="34" charset="0"/>
                <a:ea typeface="Calibri" pitchFamily="34" charset="-122"/>
                <a:cs typeface="Calibri" pitchFamily="34" charset="-120"/>
              </a:rPr>
              <a:t>Single flat table (“Sheet1”), enriched with computed measures for economic damage, relief coverage and funding gap.</a:t>
            </a:r>
            <a:endParaRPr lang="en-US" sz="1250" dirty="0"/>
          </a:p>
        </p:txBody>
      </p:sp>
      <p:sp>
        <p:nvSpPr>
          <p:cNvPr id="9" name="Text 6"/>
          <p:cNvSpPr/>
          <p:nvPr/>
        </p:nvSpPr>
        <p:spPr>
          <a:xfrm>
            <a:off x="6675120" y="1417320"/>
            <a:ext cx="4937760" cy="292608"/>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ANALYSIS WORKFLOW</a:t>
            </a:r>
            <a:endParaRPr lang="en-US" sz="1200" dirty="0"/>
          </a:p>
        </p:txBody>
      </p:sp>
      <p:sp>
        <p:nvSpPr>
          <p:cNvPr id="10" name="Shape 7"/>
          <p:cNvSpPr/>
          <p:nvPr/>
        </p:nvSpPr>
        <p:spPr>
          <a:xfrm>
            <a:off x="6675120" y="1828800"/>
            <a:ext cx="457200" cy="457200"/>
          </a:xfrm>
          <a:prstGeom prst="ellipse">
            <a:avLst/>
          </a:prstGeom>
          <a:solidFill>
            <a:srgbClr val="1B3746"/>
          </a:solidFill>
          <a:ln/>
        </p:spPr>
      </p:sp>
      <p:sp>
        <p:nvSpPr>
          <p:cNvPr id="11" name="Text 8"/>
          <p:cNvSpPr/>
          <p:nvPr/>
        </p:nvSpPr>
        <p:spPr>
          <a:xfrm>
            <a:off x="667512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9"/>
          <p:cNvSpPr/>
          <p:nvPr/>
        </p:nvSpPr>
        <p:spPr>
          <a:xfrm>
            <a:off x="7269480" y="178308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Collect &amp; Structure</a:t>
            </a:r>
            <a:endParaRPr lang="en-US" sz="1400" dirty="0"/>
          </a:p>
        </p:txBody>
      </p:sp>
      <p:sp>
        <p:nvSpPr>
          <p:cNvPr id="13" name="Text 10"/>
          <p:cNvSpPr/>
          <p:nvPr/>
        </p:nvSpPr>
        <p:spPr>
          <a:xfrm>
            <a:off x="7269480" y="207568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Consolidate disaster records into a single analytical table with geography, time and impact fields.</a:t>
            </a:r>
            <a:endParaRPr lang="en-US" sz="1150" dirty="0"/>
          </a:p>
        </p:txBody>
      </p:sp>
      <p:sp>
        <p:nvSpPr>
          <p:cNvPr id="14" name="Shape 11"/>
          <p:cNvSpPr/>
          <p:nvPr/>
        </p:nvSpPr>
        <p:spPr>
          <a:xfrm>
            <a:off x="6675120" y="2880360"/>
            <a:ext cx="457200" cy="457200"/>
          </a:xfrm>
          <a:prstGeom prst="ellipse">
            <a:avLst/>
          </a:prstGeom>
          <a:solidFill>
            <a:srgbClr val="1B3746"/>
          </a:solidFill>
          <a:ln/>
        </p:spPr>
      </p:sp>
      <p:sp>
        <p:nvSpPr>
          <p:cNvPr id="15" name="Text 12"/>
          <p:cNvSpPr/>
          <p:nvPr/>
        </p:nvSpPr>
        <p:spPr>
          <a:xfrm>
            <a:off x="6675120" y="2880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7269480" y="283464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Model &amp; Measure</a:t>
            </a:r>
            <a:endParaRPr lang="en-US" sz="1400" dirty="0"/>
          </a:p>
        </p:txBody>
      </p:sp>
      <p:sp>
        <p:nvSpPr>
          <p:cNvPr id="17" name="Text 14"/>
          <p:cNvSpPr/>
          <p:nvPr/>
        </p:nvSpPr>
        <p:spPr>
          <a:xfrm>
            <a:off x="7269480" y="312724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Build DAX measures for totals, coverage %, and funding gap across events.</a:t>
            </a:r>
            <a:endParaRPr lang="en-US" sz="1150" dirty="0"/>
          </a:p>
        </p:txBody>
      </p:sp>
      <p:sp>
        <p:nvSpPr>
          <p:cNvPr id="18" name="Shape 15"/>
          <p:cNvSpPr/>
          <p:nvPr/>
        </p:nvSpPr>
        <p:spPr>
          <a:xfrm>
            <a:off x="6675120" y="3931920"/>
            <a:ext cx="457200" cy="457200"/>
          </a:xfrm>
          <a:prstGeom prst="ellipse">
            <a:avLst/>
          </a:prstGeom>
          <a:solidFill>
            <a:srgbClr val="1B3746"/>
          </a:solidFill>
          <a:ln/>
        </p:spPr>
      </p:sp>
      <p:sp>
        <p:nvSpPr>
          <p:cNvPr id="19" name="Text 16"/>
          <p:cNvSpPr/>
          <p:nvPr/>
        </p:nvSpPr>
        <p:spPr>
          <a:xfrm>
            <a:off x="6675120" y="3931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p:nvPr/>
        </p:nvSpPr>
        <p:spPr>
          <a:xfrm>
            <a:off x="7269480" y="388620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Visualize</a:t>
            </a:r>
            <a:endParaRPr lang="en-US" sz="1400" dirty="0"/>
          </a:p>
        </p:txBody>
      </p:sp>
      <p:sp>
        <p:nvSpPr>
          <p:cNvPr id="21" name="Text 18"/>
          <p:cNvSpPr/>
          <p:nvPr/>
        </p:nvSpPr>
        <p:spPr>
          <a:xfrm>
            <a:off x="7269480" y="417880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Design an interactive Power BI dashboard: trend lines, category charts, map and KPI cards.</a:t>
            </a:r>
            <a:endParaRPr lang="en-US" sz="1150" dirty="0"/>
          </a:p>
        </p:txBody>
      </p:sp>
      <p:sp>
        <p:nvSpPr>
          <p:cNvPr id="22" name="Shape 19"/>
          <p:cNvSpPr/>
          <p:nvPr/>
        </p:nvSpPr>
        <p:spPr>
          <a:xfrm>
            <a:off x="6675120" y="4983480"/>
            <a:ext cx="457200" cy="457200"/>
          </a:xfrm>
          <a:prstGeom prst="ellipse">
            <a:avLst/>
          </a:prstGeom>
          <a:solidFill>
            <a:srgbClr val="1B3746"/>
          </a:solidFill>
          <a:ln/>
        </p:spPr>
      </p:sp>
      <p:sp>
        <p:nvSpPr>
          <p:cNvPr id="23" name="Text 20"/>
          <p:cNvSpPr/>
          <p:nvPr/>
        </p:nvSpPr>
        <p:spPr>
          <a:xfrm>
            <a:off x="6675120" y="4983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p:nvPr/>
        </p:nvSpPr>
        <p:spPr>
          <a:xfrm>
            <a:off x="7269480" y="493776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Interpret</a:t>
            </a:r>
            <a:endParaRPr lang="en-US" sz="1400" dirty="0"/>
          </a:p>
        </p:txBody>
      </p:sp>
      <p:sp>
        <p:nvSpPr>
          <p:cNvPr id="25" name="Text 22"/>
          <p:cNvSpPr/>
          <p:nvPr/>
        </p:nvSpPr>
        <p:spPr>
          <a:xfrm>
            <a:off x="7269480" y="523036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Translate visuals into findings on frequency, severity, cost and relief effectiveness.</a:t>
            </a:r>
            <a:endParaRPr lang="en-US" sz="1150" dirty="0"/>
          </a:p>
        </p:txBody>
      </p:sp>
      <p:sp>
        <p:nvSpPr>
          <p:cNvPr id="26" name="Text 23"/>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7"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746"/>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21792"/>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Impact at a Glance</a:t>
            </a:r>
            <a:endParaRPr lang="en-US" sz="3000" dirty="0"/>
          </a:p>
        </p:txBody>
      </p:sp>
      <p:sp>
        <p:nvSpPr>
          <p:cNvPr id="4" name="Shape 2"/>
          <p:cNvSpPr/>
          <p:nvPr/>
        </p:nvSpPr>
        <p:spPr>
          <a:xfrm>
            <a:off x="548640"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5" name="Image 0" descr="preencoded.png"/>
          <p:cNvPicPr>
            <a:picLocks noChangeAspect="1"/>
          </p:cNvPicPr>
          <p:nvPr/>
        </p:nvPicPr>
        <p:blipFill>
          <a:blip r:embed="rId3"/>
          <a:stretch>
            <a:fillRect/>
          </a:stretch>
        </p:blipFill>
        <p:spPr>
          <a:xfrm>
            <a:off x="804672" y="1856232"/>
            <a:ext cx="384048" cy="384048"/>
          </a:xfrm>
          <a:prstGeom prst="rect">
            <a:avLst/>
          </a:prstGeom>
        </p:spPr>
      </p:pic>
      <p:sp>
        <p:nvSpPr>
          <p:cNvPr id="6" name="Text 3"/>
          <p:cNvSpPr/>
          <p:nvPr/>
        </p:nvSpPr>
        <p:spPr>
          <a:xfrm>
            <a:off x="685800"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2.70M</a:t>
            </a:r>
            <a:endParaRPr lang="en-US" sz="3200" dirty="0"/>
          </a:p>
        </p:txBody>
      </p:sp>
      <p:sp>
        <p:nvSpPr>
          <p:cNvPr id="7" name="Text 4"/>
          <p:cNvSpPr/>
          <p:nvPr/>
        </p:nvSpPr>
        <p:spPr>
          <a:xfrm>
            <a:off x="685800"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DEATHS</a:t>
            </a:r>
            <a:endParaRPr lang="en-US" sz="1100" dirty="0"/>
          </a:p>
        </p:txBody>
      </p:sp>
      <p:sp>
        <p:nvSpPr>
          <p:cNvPr id="8" name="Shape 5"/>
          <p:cNvSpPr/>
          <p:nvPr/>
        </p:nvSpPr>
        <p:spPr>
          <a:xfrm>
            <a:off x="3410712"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9" name="Image 1" descr="preencoded.png"/>
          <p:cNvPicPr>
            <a:picLocks noChangeAspect="1"/>
          </p:cNvPicPr>
          <p:nvPr/>
        </p:nvPicPr>
        <p:blipFill>
          <a:blip r:embed="rId4"/>
          <a:stretch>
            <a:fillRect/>
          </a:stretch>
        </p:blipFill>
        <p:spPr>
          <a:xfrm>
            <a:off x="3666744" y="1856232"/>
            <a:ext cx="384048" cy="384048"/>
          </a:xfrm>
          <a:prstGeom prst="rect">
            <a:avLst/>
          </a:prstGeom>
        </p:spPr>
      </p:pic>
      <p:sp>
        <p:nvSpPr>
          <p:cNvPr id="10" name="Text 6"/>
          <p:cNvSpPr/>
          <p:nvPr/>
        </p:nvSpPr>
        <p:spPr>
          <a:xfrm>
            <a:off x="3547872"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13.42M</a:t>
            </a:r>
            <a:endParaRPr lang="en-US" sz="3200" dirty="0"/>
          </a:p>
        </p:txBody>
      </p:sp>
      <p:sp>
        <p:nvSpPr>
          <p:cNvPr id="11" name="Text 7"/>
          <p:cNvSpPr/>
          <p:nvPr/>
        </p:nvSpPr>
        <p:spPr>
          <a:xfrm>
            <a:off x="3547872"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INJURED</a:t>
            </a:r>
            <a:endParaRPr lang="en-US" sz="1100" dirty="0"/>
          </a:p>
        </p:txBody>
      </p:sp>
      <p:sp>
        <p:nvSpPr>
          <p:cNvPr id="12" name="Shape 8"/>
          <p:cNvSpPr/>
          <p:nvPr/>
        </p:nvSpPr>
        <p:spPr>
          <a:xfrm>
            <a:off x="6272784"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13" name="Image 2" descr="preencoded.png"/>
          <p:cNvPicPr>
            <a:picLocks noChangeAspect="1"/>
          </p:cNvPicPr>
          <p:nvPr/>
        </p:nvPicPr>
        <p:blipFill>
          <a:blip r:embed="rId5"/>
          <a:stretch>
            <a:fillRect/>
          </a:stretch>
        </p:blipFill>
        <p:spPr>
          <a:xfrm>
            <a:off x="6528816" y="1856232"/>
            <a:ext cx="384048" cy="384048"/>
          </a:xfrm>
          <a:prstGeom prst="rect">
            <a:avLst/>
          </a:prstGeom>
        </p:spPr>
      </p:pic>
      <p:sp>
        <p:nvSpPr>
          <p:cNvPr id="14" name="Text 9"/>
          <p:cNvSpPr/>
          <p:nvPr/>
        </p:nvSpPr>
        <p:spPr>
          <a:xfrm>
            <a:off x="6409944"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$32.0B</a:t>
            </a:r>
            <a:endParaRPr lang="en-US" sz="3200" dirty="0"/>
          </a:p>
        </p:txBody>
      </p:sp>
      <p:sp>
        <p:nvSpPr>
          <p:cNvPr id="15" name="Text 10"/>
          <p:cNvSpPr/>
          <p:nvPr/>
        </p:nvSpPr>
        <p:spPr>
          <a:xfrm>
            <a:off x="6409944"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RELIEF FUNDS DISBURSED</a:t>
            </a:r>
            <a:endParaRPr lang="en-US" sz="1100" dirty="0"/>
          </a:p>
        </p:txBody>
      </p:sp>
      <p:sp>
        <p:nvSpPr>
          <p:cNvPr id="16" name="Shape 11"/>
          <p:cNvSpPr/>
          <p:nvPr/>
        </p:nvSpPr>
        <p:spPr>
          <a:xfrm>
            <a:off x="9134856"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17" name="Image 3" descr="preencoded.png"/>
          <p:cNvPicPr>
            <a:picLocks noChangeAspect="1"/>
          </p:cNvPicPr>
          <p:nvPr/>
        </p:nvPicPr>
        <p:blipFill>
          <a:blip r:embed="rId6"/>
          <a:stretch>
            <a:fillRect/>
          </a:stretch>
        </p:blipFill>
        <p:spPr>
          <a:xfrm>
            <a:off x="9390888" y="1856232"/>
            <a:ext cx="384048" cy="384048"/>
          </a:xfrm>
          <a:prstGeom prst="rect">
            <a:avLst/>
          </a:prstGeom>
        </p:spPr>
      </p:pic>
      <p:sp>
        <p:nvSpPr>
          <p:cNvPr id="18" name="Text 12"/>
          <p:cNvSpPr/>
          <p:nvPr/>
        </p:nvSpPr>
        <p:spPr>
          <a:xfrm>
            <a:off x="9272016"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375</a:t>
            </a:r>
            <a:endParaRPr lang="en-US" sz="3200" dirty="0"/>
          </a:p>
        </p:txBody>
      </p:sp>
      <p:sp>
        <p:nvSpPr>
          <p:cNvPr id="19" name="Text 13"/>
          <p:cNvSpPr/>
          <p:nvPr/>
        </p:nvSpPr>
        <p:spPr>
          <a:xfrm>
            <a:off x="9272016"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AVG. RECOVERY DAYS</a:t>
            </a:r>
            <a:endParaRPr lang="en-US" sz="1100" dirty="0"/>
          </a:p>
        </p:txBody>
      </p:sp>
      <p:sp>
        <p:nvSpPr>
          <p:cNvPr id="20" name="Shape 14"/>
          <p:cNvSpPr/>
          <p:nvPr/>
        </p:nvSpPr>
        <p:spPr>
          <a:xfrm>
            <a:off x="548640" y="4069080"/>
            <a:ext cx="5394960" cy="1965960"/>
          </a:xfrm>
          <a:prstGeom prst="roundRect">
            <a:avLst>
              <a:gd name="adj" fmla="val 4186"/>
            </a:avLst>
          </a:prstGeom>
          <a:solidFill>
            <a:srgbClr val="23495A"/>
          </a:solidFill>
          <a:ln/>
          <a:effectLst>
            <a:outerShdw blurRad="101600" dist="38100" dir="5400000" algn="bl" rotWithShape="0">
              <a:srgbClr val="000000">
                <a:alpha val="20000"/>
              </a:srgbClr>
            </a:outerShdw>
          </a:effectLst>
        </p:spPr>
      </p:sp>
      <p:pic>
        <p:nvPicPr>
          <p:cNvPr id="21" name="Image 4" descr="preencoded.png"/>
          <p:cNvPicPr>
            <a:picLocks noChangeAspect="1"/>
          </p:cNvPicPr>
          <p:nvPr/>
        </p:nvPicPr>
        <p:blipFill>
          <a:blip r:embed="rId7"/>
          <a:stretch>
            <a:fillRect/>
          </a:stretch>
        </p:blipFill>
        <p:spPr>
          <a:xfrm>
            <a:off x="822960" y="4315968"/>
            <a:ext cx="384048" cy="384048"/>
          </a:xfrm>
          <a:prstGeom prst="rect">
            <a:avLst/>
          </a:prstGeom>
        </p:spPr>
      </p:pic>
      <p:sp>
        <p:nvSpPr>
          <p:cNvPr id="22" name="Text 15"/>
          <p:cNvSpPr/>
          <p:nvPr/>
        </p:nvSpPr>
        <p:spPr>
          <a:xfrm>
            <a:off x="822960" y="4754880"/>
            <a:ext cx="4846320" cy="59436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$15.88M</a:t>
            </a:r>
            <a:endParaRPr lang="en-US" sz="3000" dirty="0"/>
          </a:p>
        </p:txBody>
      </p:sp>
      <p:sp>
        <p:nvSpPr>
          <p:cNvPr id="23" name="Text 16"/>
          <p:cNvSpPr/>
          <p:nvPr/>
        </p:nvSpPr>
        <p:spPr>
          <a:xfrm>
            <a:off x="822960" y="5349240"/>
            <a:ext cx="4846320" cy="32004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ECONOMIC DAMAGE (USD MILLIONS)</a:t>
            </a:r>
            <a:endParaRPr lang="en-US" sz="1100" dirty="0"/>
          </a:p>
        </p:txBody>
      </p:sp>
      <p:sp>
        <p:nvSpPr>
          <p:cNvPr id="24" name="Text 17"/>
          <p:cNvSpPr/>
          <p:nvPr/>
        </p:nvSpPr>
        <p:spPr>
          <a:xfrm>
            <a:off x="822960" y="5669280"/>
            <a:ext cx="4846320" cy="320040"/>
          </a:xfrm>
          <a:prstGeom prst="rect">
            <a:avLst/>
          </a:prstGeom>
          <a:noFill/>
          <a:ln/>
        </p:spPr>
        <p:txBody>
          <a:bodyPr wrap="square" rtlCol="0" anchor="ctr"/>
          <a:lstStyle/>
          <a:p>
            <a:pPr marL="0" indent="0">
              <a:buNone/>
            </a:pPr>
            <a:r>
              <a:rPr lang="en-US" sz="1050" i="1" dirty="0">
                <a:solidFill>
                  <a:srgbClr val="F4F6F6"/>
                </a:solidFill>
                <a:latin typeface="Calibri" pitchFamily="34" charset="0"/>
                <a:ea typeface="Calibri" pitchFamily="34" charset="-122"/>
                <a:cs typeface="Calibri" pitchFamily="34" charset="-120"/>
              </a:rPr>
              <a:t>Across 663 logged events — the single largest driver of the dashboard's KPI cards.</a:t>
            </a:r>
            <a:endParaRPr lang="en-US" sz="1050" dirty="0"/>
          </a:p>
        </p:txBody>
      </p:sp>
      <p:sp>
        <p:nvSpPr>
          <p:cNvPr id="25" name="Shape 18"/>
          <p:cNvSpPr/>
          <p:nvPr/>
        </p:nvSpPr>
        <p:spPr>
          <a:xfrm>
            <a:off x="6172200" y="4069080"/>
            <a:ext cx="5468112" cy="1965960"/>
          </a:xfrm>
          <a:prstGeom prst="roundRect">
            <a:avLst>
              <a:gd name="adj" fmla="val 4186"/>
            </a:avLst>
          </a:prstGeom>
          <a:solidFill>
            <a:srgbClr val="E4572E"/>
          </a:solidFill>
          <a:ln/>
          <a:effectLst>
            <a:outerShdw blurRad="101600" dist="38100" dir="5400000" algn="bl" rotWithShape="0">
              <a:srgbClr val="000000">
                <a:alpha val="20000"/>
              </a:srgbClr>
            </a:outerShdw>
          </a:effectLst>
        </p:spPr>
      </p:sp>
      <p:pic>
        <p:nvPicPr>
          <p:cNvPr id="26" name="Image 5" descr="preencoded.png"/>
          <p:cNvPicPr>
            <a:picLocks noChangeAspect="1"/>
          </p:cNvPicPr>
          <p:nvPr/>
        </p:nvPicPr>
        <p:blipFill>
          <a:blip r:embed="rId7"/>
          <a:stretch>
            <a:fillRect/>
          </a:stretch>
        </p:blipFill>
        <p:spPr>
          <a:xfrm>
            <a:off x="6446520" y="4315968"/>
            <a:ext cx="384048" cy="384048"/>
          </a:xfrm>
          <a:prstGeom prst="rect">
            <a:avLst/>
          </a:prstGeom>
        </p:spPr>
      </p:pic>
      <p:sp>
        <p:nvSpPr>
          <p:cNvPr id="27" name="Text 19"/>
          <p:cNvSpPr/>
          <p:nvPr/>
        </p:nvSpPr>
        <p:spPr>
          <a:xfrm>
            <a:off x="6446520" y="4754880"/>
            <a:ext cx="493776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0.81%</a:t>
            </a:r>
            <a:endParaRPr lang="en-US" sz="3000" dirty="0"/>
          </a:p>
        </p:txBody>
      </p:sp>
      <p:sp>
        <p:nvSpPr>
          <p:cNvPr id="28" name="Text 20"/>
          <p:cNvSpPr/>
          <p:nvPr/>
        </p:nvSpPr>
        <p:spPr>
          <a:xfrm>
            <a:off x="6446520" y="5349240"/>
            <a:ext cx="4937760" cy="320040"/>
          </a:xfrm>
          <a:prstGeom prst="rect">
            <a:avLst/>
          </a:prstGeom>
          <a:noFill/>
          <a:ln/>
        </p:spPr>
        <p:txBody>
          <a:bodyPr wrap="square" rtlCol="0" anchor="ctr"/>
          <a:lstStyle/>
          <a:p>
            <a:pPr marL="0" indent="0">
              <a:buNone/>
            </a:pPr>
            <a:r>
              <a:rPr lang="en-US" sz="1100" kern="0" spc="100" dirty="0">
                <a:solidFill>
                  <a:srgbClr val="FFFFFF"/>
                </a:solidFill>
                <a:latin typeface="Calibri" pitchFamily="34" charset="0"/>
                <a:ea typeface="Calibri" pitchFamily="34" charset="-122"/>
                <a:cs typeface="Calibri" pitchFamily="34" charset="-120"/>
              </a:rPr>
              <a:t>AVG. RELIEF COVERAGE PER EVENT</a:t>
            </a:r>
            <a:endParaRPr lang="en-US" sz="1100" dirty="0"/>
          </a:p>
        </p:txBody>
      </p:sp>
      <p:sp>
        <p:nvSpPr>
          <p:cNvPr id="29" name="Text 21"/>
          <p:cNvSpPr/>
          <p:nvPr/>
        </p:nvSpPr>
        <p:spPr>
          <a:xfrm>
            <a:off x="6446520" y="5669280"/>
            <a:ext cx="4937760" cy="411480"/>
          </a:xfrm>
          <a:prstGeom prst="rect">
            <a:avLst/>
          </a:prstGeom>
          <a:noFill/>
          <a:ln/>
        </p:spPr>
        <p:txBody>
          <a:bodyPr wrap="square"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On average, relief funds cover under 1% of an event's economic damage — a persistent funding gap.</a:t>
            </a:r>
            <a:endParaRPr lang="en-US" sz="1050" dirty="0"/>
          </a:p>
        </p:txBody>
      </p:sp>
      <p:sp>
        <p:nvSpPr>
          <p:cNvPr id="30" name="Text 22"/>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31"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01</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Disaster Type Distribution</a:t>
            </a:r>
            <a:endParaRPr lang="en-US" sz="3000" dirty="0"/>
          </a:p>
        </p:txBody>
      </p:sp>
      <p:graphicFrame>
        <p:nvGraphicFramePr>
          <p:cNvPr id="4" name="Chart 0"/>
          <p:cNvGraphicFramePr/>
          <p:nvPr/>
        </p:nvGraphicFramePr>
        <p:xfrm>
          <a:off x="502920" y="150876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508760"/>
            <a:ext cx="4206240" cy="4480560"/>
          </a:xfrm>
          <a:prstGeom prst="roundRect">
            <a:avLst>
              <a:gd name="adj" fmla="val 1739"/>
            </a:avLst>
          </a:prstGeom>
          <a:solidFill>
            <a:srgbClr val="F4F6F6"/>
          </a:solidFill>
          <a:ln/>
        </p:spPr>
      </p:sp>
      <p:sp>
        <p:nvSpPr>
          <p:cNvPr id="6" name="Text 3"/>
          <p:cNvSpPr/>
          <p:nvPr/>
        </p:nvSpPr>
        <p:spPr>
          <a:xfrm>
            <a:off x="7726680" y="1737360"/>
            <a:ext cx="36576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READING THE CHART</a:t>
            </a:r>
            <a:endParaRPr lang="en-US" sz="1100" dirty="0"/>
          </a:p>
        </p:txBody>
      </p:sp>
      <p:pic>
        <p:nvPicPr>
          <p:cNvPr id="7" name="Image 0" descr="preencoded.png"/>
          <p:cNvPicPr>
            <a:picLocks noChangeAspect="1"/>
          </p:cNvPicPr>
          <p:nvPr/>
        </p:nvPicPr>
        <p:blipFill>
          <a:blip r:embed="rId4"/>
          <a:stretch>
            <a:fillRect/>
          </a:stretch>
        </p:blipFill>
        <p:spPr>
          <a:xfrm>
            <a:off x="7726680" y="2148840"/>
            <a:ext cx="256032" cy="256032"/>
          </a:xfrm>
          <a:prstGeom prst="rect">
            <a:avLst/>
          </a:prstGeom>
        </p:spPr>
      </p:pic>
      <p:sp>
        <p:nvSpPr>
          <p:cNvPr id="8" name="Text 4"/>
          <p:cNvSpPr/>
          <p:nvPr/>
        </p:nvSpPr>
        <p:spPr>
          <a:xfrm>
            <a:off x="8092440" y="210312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Drought and Heatwave are the most frequent disaster types, each logged 91 times — together over a quarter of all events.</a:t>
            </a:r>
            <a:endParaRPr lang="en-US" sz="1150" dirty="0"/>
          </a:p>
        </p:txBody>
      </p:sp>
      <p:pic>
        <p:nvPicPr>
          <p:cNvPr id="9" name="Image 1" descr="preencoded.png"/>
          <p:cNvPicPr>
            <a:picLocks noChangeAspect="1"/>
          </p:cNvPicPr>
          <p:nvPr/>
        </p:nvPicPr>
        <p:blipFill>
          <a:blip r:embed="rId4"/>
          <a:stretch>
            <a:fillRect/>
          </a:stretch>
        </p:blipFill>
        <p:spPr>
          <a:xfrm>
            <a:off x="7726680" y="3108960"/>
            <a:ext cx="256032" cy="256032"/>
          </a:xfrm>
          <a:prstGeom prst="rect">
            <a:avLst/>
          </a:prstGeom>
        </p:spPr>
      </p:pic>
      <p:sp>
        <p:nvSpPr>
          <p:cNvPr id="10" name="Text 5"/>
          <p:cNvSpPr/>
          <p:nvPr/>
        </p:nvSpPr>
        <p:spPr>
          <a:xfrm>
            <a:off x="8092440" y="306324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Tsunami (89) and Landslide (88) follow closely, showing India's exposure spans both coastal and terrain-driven hazards.</a:t>
            </a:r>
            <a:endParaRPr lang="en-US" sz="1150" dirty="0"/>
          </a:p>
        </p:txBody>
      </p:sp>
      <p:pic>
        <p:nvPicPr>
          <p:cNvPr id="11" name="Image 2" descr="preencoded.png"/>
          <p:cNvPicPr>
            <a:picLocks noChangeAspect="1"/>
          </p:cNvPicPr>
          <p:nvPr/>
        </p:nvPicPr>
        <p:blipFill>
          <a:blip r:embed="rId4"/>
          <a:stretch>
            <a:fillRect/>
          </a:stretch>
        </p:blipFill>
        <p:spPr>
          <a:xfrm>
            <a:off x="7726680" y="4069080"/>
            <a:ext cx="256032" cy="256032"/>
          </a:xfrm>
          <a:prstGeom prst="rect">
            <a:avLst/>
          </a:prstGeom>
        </p:spPr>
      </p:pic>
      <p:sp>
        <p:nvSpPr>
          <p:cNvPr id="12" name="Text 6"/>
          <p:cNvSpPr/>
          <p:nvPr/>
        </p:nvSpPr>
        <p:spPr>
          <a:xfrm>
            <a:off x="8092440" y="402336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Cyclone is the least frequent (69 events) but still a recurring, high-impact category.</a:t>
            </a:r>
            <a:endParaRPr lang="en-US" sz="1150" dirty="0"/>
          </a:p>
        </p:txBody>
      </p:sp>
      <p:pic>
        <p:nvPicPr>
          <p:cNvPr id="13" name="Image 3" descr="preencoded.png"/>
          <p:cNvPicPr>
            <a:picLocks noChangeAspect="1"/>
          </p:cNvPicPr>
          <p:nvPr/>
        </p:nvPicPr>
        <p:blipFill>
          <a:blip r:embed="rId4"/>
          <a:stretch>
            <a:fillRect/>
          </a:stretch>
        </p:blipFill>
        <p:spPr>
          <a:xfrm>
            <a:off x="7726680" y="5029200"/>
            <a:ext cx="256032" cy="256032"/>
          </a:xfrm>
          <a:prstGeom prst="rect">
            <a:avLst/>
          </a:prstGeom>
        </p:spPr>
      </p:pic>
      <p:sp>
        <p:nvSpPr>
          <p:cNvPr id="14" name="Text 7"/>
          <p:cNvSpPr/>
          <p:nvPr/>
        </p:nvSpPr>
        <p:spPr>
          <a:xfrm>
            <a:off x="8092440" y="498348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The spread across 8 distinct types (69–91 events each) shows a fairly balanced hazard profile rather than one dominant disaster.</a:t>
            </a:r>
            <a:endParaRPr lang="en-US" sz="1150" dirty="0"/>
          </a:p>
        </p:txBody>
      </p:sp>
      <p:sp>
        <p:nvSpPr>
          <p:cNvPr id="15"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6"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02</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Economic Damage by Disaster Type</a:t>
            </a:r>
            <a:endParaRPr lang="en-US" sz="3000" dirty="0"/>
          </a:p>
        </p:txBody>
      </p:sp>
      <p:graphicFrame>
        <p:nvGraphicFramePr>
          <p:cNvPr id="4" name="Chart 0"/>
          <p:cNvGraphicFramePr/>
          <p:nvPr/>
        </p:nvGraphicFramePr>
        <p:xfrm>
          <a:off x="640080" y="1463040"/>
          <a:ext cx="51206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126480" y="1600200"/>
            <a:ext cx="54864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TOP COST DRIVERS</a:t>
            </a:r>
            <a:endParaRPr lang="en-US" sz="1100" dirty="0"/>
          </a:p>
        </p:txBody>
      </p:sp>
      <p:sp>
        <p:nvSpPr>
          <p:cNvPr id="6" name="Shape 3"/>
          <p:cNvSpPr/>
          <p:nvPr/>
        </p:nvSpPr>
        <p:spPr>
          <a:xfrm>
            <a:off x="6126480" y="2011680"/>
            <a:ext cx="411480" cy="411480"/>
          </a:xfrm>
          <a:prstGeom prst="ellipse">
            <a:avLst/>
          </a:prstGeom>
          <a:solidFill>
            <a:srgbClr val="1B3746"/>
          </a:solidFill>
          <a:ln/>
        </p:spPr>
      </p:sp>
      <p:sp>
        <p:nvSpPr>
          <p:cNvPr id="7" name="Text 4"/>
          <p:cNvSpPr/>
          <p:nvPr/>
        </p:nvSpPr>
        <p:spPr>
          <a:xfrm>
            <a:off x="6126480" y="2011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5"/>
          <p:cNvSpPr/>
          <p:nvPr/>
        </p:nvSpPr>
        <p:spPr>
          <a:xfrm>
            <a:off x="6675120" y="196596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Tsunami  </a:t>
            </a:r>
            <a:r>
              <a:rPr lang="en-US" sz="1400" b="1" dirty="0">
                <a:solidFill>
                  <a:srgbClr val="E4572E"/>
                </a:solidFill>
                <a:latin typeface="Calibri" pitchFamily="34" charset="0"/>
                <a:ea typeface="Calibri" pitchFamily="34" charset="-122"/>
                <a:cs typeface="Calibri" pitchFamily="34" charset="-120"/>
              </a:rPr>
              <a:t>$2.21M Mn</a:t>
            </a:r>
            <a:endParaRPr lang="en-US" sz="1400" dirty="0"/>
          </a:p>
        </p:txBody>
      </p:sp>
      <p:sp>
        <p:nvSpPr>
          <p:cNvPr id="9" name="Text 6"/>
          <p:cNvSpPr/>
          <p:nvPr/>
        </p:nvSpPr>
        <p:spPr>
          <a:xfrm>
            <a:off x="6675120" y="226771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Highest total damage despite only 89 events — the costliest event type per occurrence.</a:t>
            </a:r>
            <a:endParaRPr lang="en-US" sz="1150" dirty="0"/>
          </a:p>
        </p:txBody>
      </p:sp>
      <p:sp>
        <p:nvSpPr>
          <p:cNvPr id="10" name="Shape 7"/>
          <p:cNvSpPr/>
          <p:nvPr/>
        </p:nvSpPr>
        <p:spPr>
          <a:xfrm>
            <a:off x="6126480" y="3063240"/>
            <a:ext cx="411480" cy="411480"/>
          </a:xfrm>
          <a:prstGeom prst="ellipse">
            <a:avLst/>
          </a:prstGeom>
          <a:solidFill>
            <a:srgbClr val="1B3746"/>
          </a:solidFill>
          <a:ln/>
        </p:spPr>
      </p:sp>
      <p:sp>
        <p:nvSpPr>
          <p:cNvPr id="11" name="Text 8"/>
          <p:cNvSpPr/>
          <p:nvPr/>
        </p:nvSpPr>
        <p:spPr>
          <a:xfrm>
            <a:off x="6126480" y="30632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9"/>
          <p:cNvSpPr/>
          <p:nvPr/>
        </p:nvSpPr>
        <p:spPr>
          <a:xfrm>
            <a:off x="6675120" y="301752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Heatwave  </a:t>
            </a:r>
            <a:r>
              <a:rPr lang="en-US" sz="1400" b="1" dirty="0">
                <a:solidFill>
                  <a:srgbClr val="E4572E"/>
                </a:solidFill>
                <a:latin typeface="Calibri" pitchFamily="34" charset="0"/>
                <a:ea typeface="Calibri" pitchFamily="34" charset="-122"/>
                <a:cs typeface="Calibri" pitchFamily="34" charset="-120"/>
              </a:rPr>
              <a:t>$2.20M Mn</a:t>
            </a:r>
            <a:endParaRPr lang="en-US" sz="1400" dirty="0"/>
          </a:p>
        </p:txBody>
      </p:sp>
      <p:sp>
        <p:nvSpPr>
          <p:cNvPr id="13" name="Text 10"/>
          <p:cNvSpPr/>
          <p:nvPr/>
        </p:nvSpPr>
        <p:spPr>
          <a:xfrm>
            <a:off x="6675120" y="331927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High frequency (91 events) combined with high per-event cost.</a:t>
            </a:r>
            <a:endParaRPr lang="en-US" sz="1150" dirty="0"/>
          </a:p>
        </p:txBody>
      </p:sp>
      <p:sp>
        <p:nvSpPr>
          <p:cNvPr id="14" name="Shape 11"/>
          <p:cNvSpPr/>
          <p:nvPr/>
        </p:nvSpPr>
        <p:spPr>
          <a:xfrm>
            <a:off x="6126480" y="4114800"/>
            <a:ext cx="411480" cy="411480"/>
          </a:xfrm>
          <a:prstGeom prst="ellipse">
            <a:avLst/>
          </a:prstGeom>
          <a:solidFill>
            <a:srgbClr val="1B3746"/>
          </a:solidFill>
          <a:ln/>
        </p:spPr>
      </p:sp>
      <p:sp>
        <p:nvSpPr>
          <p:cNvPr id="15" name="Text 12"/>
          <p:cNvSpPr/>
          <p:nvPr/>
        </p:nvSpPr>
        <p:spPr>
          <a:xfrm>
            <a:off x="6126480" y="41148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3"/>
          <p:cNvSpPr/>
          <p:nvPr/>
        </p:nvSpPr>
        <p:spPr>
          <a:xfrm>
            <a:off x="6675120" y="406908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Drought  </a:t>
            </a:r>
            <a:r>
              <a:rPr lang="en-US" sz="1400" b="1" dirty="0">
                <a:solidFill>
                  <a:srgbClr val="E4572E"/>
                </a:solidFill>
                <a:latin typeface="Calibri" pitchFamily="34" charset="0"/>
                <a:ea typeface="Calibri" pitchFamily="34" charset="-122"/>
                <a:cs typeface="Calibri" pitchFamily="34" charset="-120"/>
              </a:rPr>
              <a:t>$2.07M Mn</a:t>
            </a:r>
            <a:endParaRPr lang="en-US" sz="1400" dirty="0"/>
          </a:p>
        </p:txBody>
      </p:sp>
      <p:sp>
        <p:nvSpPr>
          <p:cNvPr id="17" name="Text 14"/>
          <p:cNvSpPr/>
          <p:nvPr/>
        </p:nvSpPr>
        <p:spPr>
          <a:xfrm>
            <a:off x="6675120" y="437083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Long-duration, slow-onset events that compound economic losses over time.</a:t>
            </a:r>
            <a:endParaRPr lang="en-US" sz="1150" dirty="0"/>
          </a:p>
        </p:txBody>
      </p:sp>
      <p:sp>
        <p:nvSpPr>
          <p:cNvPr id="18" name="Shape 15"/>
          <p:cNvSpPr/>
          <p:nvPr/>
        </p:nvSpPr>
        <p:spPr>
          <a:xfrm>
            <a:off x="6126480" y="5257800"/>
            <a:ext cx="5394960" cy="777240"/>
          </a:xfrm>
          <a:prstGeom prst="roundRect">
            <a:avLst>
              <a:gd name="adj" fmla="val 9412"/>
            </a:avLst>
          </a:prstGeom>
          <a:solidFill>
            <a:srgbClr val="F4F6F6"/>
          </a:solidFill>
          <a:ln/>
        </p:spPr>
      </p:sp>
      <p:sp>
        <p:nvSpPr>
          <p:cNvPr id="19" name="Text 16"/>
          <p:cNvSpPr/>
          <p:nvPr/>
        </p:nvSpPr>
        <p:spPr>
          <a:xfrm>
            <a:off x="6355080" y="5349240"/>
            <a:ext cx="4937760" cy="594360"/>
          </a:xfrm>
          <a:prstGeom prst="rect">
            <a:avLst/>
          </a:prstGeom>
          <a:noFill/>
          <a:ln/>
        </p:spPr>
        <p:txBody>
          <a:bodyPr wrap="square" rtlCol="0" anchor="ctr"/>
          <a:lstStyle/>
          <a:p>
            <a:pPr marL="0" indent="0">
              <a:lnSpc>
                <a:spcPct val="120000"/>
              </a:lnSpc>
              <a:buNone/>
            </a:pPr>
            <a:r>
              <a:rPr lang="en-US" sz="1150" i="1" dirty="0">
                <a:solidFill>
                  <a:srgbClr val="1B3746"/>
                </a:solidFill>
                <a:latin typeface="Calibri" pitchFamily="34" charset="0"/>
                <a:ea typeface="Calibri" pitchFamily="34" charset="-122"/>
                <a:cs typeface="Calibri" pitchFamily="34" charset="-120"/>
              </a:rPr>
              <a:t>Insight: the costliest disaster types aren't always the most frequent — severity and exposure matter as much as event count.</a:t>
            </a:r>
            <a:endParaRPr lang="en-US" sz="1150" dirty="0"/>
          </a:p>
        </p:txBody>
      </p:sp>
      <p:sp>
        <p:nvSpPr>
          <p:cNvPr id="20" name="Text 17"/>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1"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03</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Severity Distribution &amp; Risk Profile</a:t>
            </a:r>
            <a:endParaRPr lang="en-US" sz="3000" dirty="0"/>
          </a:p>
        </p:txBody>
      </p:sp>
      <p:graphicFrame>
        <p:nvGraphicFramePr>
          <p:cNvPr id="4" name="Chart 0"/>
          <p:cNvGraphicFramePr/>
          <p:nvPr/>
        </p:nvGraphicFramePr>
        <p:xfrm>
          <a:off x="502920" y="1463040"/>
          <a:ext cx="50292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989320" y="1600200"/>
            <a:ext cx="54864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EXTREME-SEVERITY HOTSPOTS</a:t>
            </a:r>
            <a:endParaRPr lang="en-US" sz="1100" dirty="0"/>
          </a:p>
        </p:txBody>
      </p:sp>
      <p:sp>
        <p:nvSpPr>
          <p:cNvPr id="6" name="Text 3"/>
          <p:cNvSpPr/>
          <p:nvPr/>
        </p:nvSpPr>
        <p:spPr>
          <a:xfrm>
            <a:off x="5989320" y="1920240"/>
            <a:ext cx="5486400" cy="640080"/>
          </a:xfrm>
          <a:prstGeom prst="rect">
            <a:avLst/>
          </a:prstGeom>
          <a:noFill/>
          <a:ln/>
        </p:spPr>
        <p:txBody>
          <a:bodyPr wrap="square" rtlCol="0" anchor="ctr"/>
          <a:lstStyle/>
          <a:p>
            <a:pPr marL="0" indent="0">
              <a:lnSpc>
                <a:spcPct val="125000"/>
              </a:lnSpc>
              <a:buNone/>
            </a:pPr>
            <a:r>
              <a:rPr lang="en-US" sz="1250" dirty="0">
                <a:solidFill>
                  <a:srgbClr val="1B3746"/>
                </a:solidFill>
                <a:latin typeface="Calibri" pitchFamily="34" charset="0"/>
                <a:ea typeface="Calibri" pitchFamily="34" charset="-122"/>
                <a:cs typeface="Calibri" pitchFamily="34" charset="-120"/>
              </a:rPr>
              <a:t>67 events (10% of all records) are classified Extreme — the tier demanding the fastest emergency response.</a:t>
            </a:r>
            <a:endParaRPr lang="en-US" sz="1250" dirty="0"/>
          </a:p>
        </p:txBody>
      </p:sp>
      <p:sp>
        <p:nvSpPr>
          <p:cNvPr id="7" name="Text 4"/>
          <p:cNvSpPr/>
          <p:nvPr/>
        </p:nvSpPr>
        <p:spPr>
          <a:xfrm>
            <a:off x="5989320" y="274320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Delhi</a:t>
            </a:r>
            <a:endParaRPr lang="en-US" sz="1200" dirty="0"/>
          </a:p>
        </p:txBody>
      </p:sp>
      <p:sp>
        <p:nvSpPr>
          <p:cNvPr id="8" name="Shape 5"/>
          <p:cNvSpPr/>
          <p:nvPr/>
        </p:nvSpPr>
        <p:spPr>
          <a:xfrm>
            <a:off x="7315200" y="2770632"/>
            <a:ext cx="3291840" cy="256032"/>
          </a:xfrm>
          <a:prstGeom prst="rect">
            <a:avLst/>
          </a:prstGeom>
          <a:solidFill>
            <a:srgbClr val="E2E8F0"/>
          </a:solidFill>
          <a:ln/>
        </p:spPr>
      </p:sp>
      <p:sp>
        <p:nvSpPr>
          <p:cNvPr id="9" name="Shape 6"/>
          <p:cNvSpPr/>
          <p:nvPr/>
        </p:nvSpPr>
        <p:spPr>
          <a:xfrm>
            <a:off x="7315200" y="2770632"/>
            <a:ext cx="3291840" cy="256032"/>
          </a:xfrm>
          <a:prstGeom prst="rect">
            <a:avLst/>
          </a:prstGeom>
          <a:solidFill>
            <a:srgbClr val="E4572E"/>
          </a:solidFill>
          <a:ln/>
        </p:spPr>
      </p:sp>
      <p:sp>
        <p:nvSpPr>
          <p:cNvPr id="10" name="Text 7"/>
          <p:cNvSpPr/>
          <p:nvPr/>
        </p:nvSpPr>
        <p:spPr>
          <a:xfrm>
            <a:off x="10698480" y="274320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21</a:t>
            </a:r>
            <a:endParaRPr lang="en-US" sz="1200" dirty="0"/>
          </a:p>
        </p:txBody>
      </p:sp>
      <p:sp>
        <p:nvSpPr>
          <p:cNvPr id="11" name="Text 8"/>
          <p:cNvSpPr/>
          <p:nvPr/>
        </p:nvSpPr>
        <p:spPr>
          <a:xfrm>
            <a:off x="5989320" y="324612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Kolkata</a:t>
            </a:r>
            <a:endParaRPr lang="en-US" sz="1200" dirty="0"/>
          </a:p>
        </p:txBody>
      </p:sp>
      <p:sp>
        <p:nvSpPr>
          <p:cNvPr id="12" name="Shape 9"/>
          <p:cNvSpPr/>
          <p:nvPr/>
        </p:nvSpPr>
        <p:spPr>
          <a:xfrm>
            <a:off x="7315200" y="3273552"/>
            <a:ext cx="3291840" cy="256032"/>
          </a:xfrm>
          <a:prstGeom prst="rect">
            <a:avLst/>
          </a:prstGeom>
          <a:solidFill>
            <a:srgbClr val="E2E8F0"/>
          </a:solidFill>
          <a:ln/>
        </p:spPr>
      </p:sp>
      <p:sp>
        <p:nvSpPr>
          <p:cNvPr id="13" name="Shape 10"/>
          <p:cNvSpPr/>
          <p:nvPr/>
        </p:nvSpPr>
        <p:spPr>
          <a:xfrm>
            <a:off x="7315200" y="3273552"/>
            <a:ext cx="2821577" cy="256032"/>
          </a:xfrm>
          <a:prstGeom prst="rect">
            <a:avLst/>
          </a:prstGeom>
          <a:solidFill>
            <a:srgbClr val="E4572E"/>
          </a:solidFill>
          <a:ln/>
        </p:spPr>
      </p:sp>
      <p:sp>
        <p:nvSpPr>
          <p:cNvPr id="14" name="Text 11"/>
          <p:cNvSpPr/>
          <p:nvPr/>
        </p:nvSpPr>
        <p:spPr>
          <a:xfrm>
            <a:off x="10698480" y="324612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18</a:t>
            </a:r>
            <a:endParaRPr lang="en-US" sz="1200" dirty="0"/>
          </a:p>
        </p:txBody>
      </p:sp>
      <p:sp>
        <p:nvSpPr>
          <p:cNvPr id="15" name="Text 12"/>
          <p:cNvSpPr/>
          <p:nvPr/>
        </p:nvSpPr>
        <p:spPr>
          <a:xfrm>
            <a:off x="5989320" y="374904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Chennai</a:t>
            </a:r>
            <a:endParaRPr lang="en-US" sz="1200" dirty="0"/>
          </a:p>
        </p:txBody>
      </p:sp>
      <p:sp>
        <p:nvSpPr>
          <p:cNvPr id="16" name="Shape 13"/>
          <p:cNvSpPr/>
          <p:nvPr/>
        </p:nvSpPr>
        <p:spPr>
          <a:xfrm>
            <a:off x="7315200" y="3776472"/>
            <a:ext cx="3291840" cy="256032"/>
          </a:xfrm>
          <a:prstGeom prst="rect">
            <a:avLst/>
          </a:prstGeom>
          <a:solidFill>
            <a:srgbClr val="E2E8F0"/>
          </a:solidFill>
          <a:ln/>
        </p:spPr>
      </p:sp>
      <p:sp>
        <p:nvSpPr>
          <p:cNvPr id="17" name="Shape 14"/>
          <p:cNvSpPr/>
          <p:nvPr/>
        </p:nvSpPr>
        <p:spPr>
          <a:xfrm>
            <a:off x="7315200" y="3776472"/>
            <a:ext cx="2508069" cy="256032"/>
          </a:xfrm>
          <a:prstGeom prst="rect">
            <a:avLst/>
          </a:prstGeom>
          <a:solidFill>
            <a:srgbClr val="E4572E"/>
          </a:solidFill>
          <a:ln/>
        </p:spPr>
      </p:sp>
      <p:sp>
        <p:nvSpPr>
          <p:cNvPr id="18" name="Text 15"/>
          <p:cNvSpPr/>
          <p:nvPr/>
        </p:nvSpPr>
        <p:spPr>
          <a:xfrm>
            <a:off x="10698480" y="374904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16</a:t>
            </a:r>
            <a:endParaRPr lang="en-US" sz="1200" dirty="0"/>
          </a:p>
        </p:txBody>
      </p:sp>
      <p:sp>
        <p:nvSpPr>
          <p:cNvPr id="19" name="Text 16"/>
          <p:cNvSpPr/>
          <p:nvPr/>
        </p:nvSpPr>
        <p:spPr>
          <a:xfrm>
            <a:off x="5989320" y="425196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Mumbai</a:t>
            </a:r>
            <a:endParaRPr lang="en-US" sz="1200" dirty="0"/>
          </a:p>
        </p:txBody>
      </p:sp>
      <p:sp>
        <p:nvSpPr>
          <p:cNvPr id="20" name="Shape 17"/>
          <p:cNvSpPr/>
          <p:nvPr/>
        </p:nvSpPr>
        <p:spPr>
          <a:xfrm>
            <a:off x="7315200" y="4279392"/>
            <a:ext cx="3291840" cy="256032"/>
          </a:xfrm>
          <a:prstGeom prst="rect">
            <a:avLst/>
          </a:prstGeom>
          <a:solidFill>
            <a:srgbClr val="E2E8F0"/>
          </a:solidFill>
          <a:ln/>
        </p:spPr>
      </p:sp>
      <p:sp>
        <p:nvSpPr>
          <p:cNvPr id="21" name="Shape 18"/>
          <p:cNvSpPr/>
          <p:nvPr/>
        </p:nvSpPr>
        <p:spPr>
          <a:xfrm>
            <a:off x="7315200" y="4279392"/>
            <a:ext cx="1881051" cy="256032"/>
          </a:xfrm>
          <a:prstGeom prst="rect">
            <a:avLst/>
          </a:prstGeom>
          <a:solidFill>
            <a:srgbClr val="E4572E"/>
          </a:solidFill>
          <a:ln/>
        </p:spPr>
      </p:sp>
      <p:sp>
        <p:nvSpPr>
          <p:cNvPr id="22" name="Text 19"/>
          <p:cNvSpPr/>
          <p:nvPr/>
        </p:nvSpPr>
        <p:spPr>
          <a:xfrm>
            <a:off x="10698480" y="425196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12</a:t>
            </a:r>
            <a:endParaRPr lang="en-US" sz="1200" dirty="0"/>
          </a:p>
        </p:txBody>
      </p:sp>
      <p:sp>
        <p:nvSpPr>
          <p:cNvPr id="23" name="Shape 20"/>
          <p:cNvSpPr/>
          <p:nvPr/>
        </p:nvSpPr>
        <p:spPr>
          <a:xfrm>
            <a:off x="5989320" y="4892040"/>
            <a:ext cx="5486400" cy="1051560"/>
          </a:xfrm>
          <a:prstGeom prst="roundRect">
            <a:avLst>
              <a:gd name="adj" fmla="val 6957"/>
            </a:avLst>
          </a:prstGeom>
          <a:solidFill>
            <a:srgbClr val="F4F6F6"/>
          </a:solidFill>
          <a:ln/>
        </p:spPr>
      </p:sp>
      <p:sp>
        <p:nvSpPr>
          <p:cNvPr id="24" name="Text 21"/>
          <p:cNvSpPr/>
          <p:nvPr/>
        </p:nvSpPr>
        <p:spPr>
          <a:xfrm>
            <a:off x="6217920" y="5029200"/>
            <a:ext cx="5029200" cy="822960"/>
          </a:xfrm>
          <a:prstGeom prst="rect">
            <a:avLst/>
          </a:prstGeom>
          <a:noFill/>
          <a:ln/>
        </p:spPr>
        <p:txBody>
          <a:bodyPr wrap="square" rtlCol="0" anchor="ctr"/>
          <a:lstStyle/>
          <a:p>
            <a:pPr marL="0" indent="0">
              <a:lnSpc>
                <a:spcPct val="120000"/>
              </a:lnSpc>
              <a:buNone/>
            </a:pPr>
            <a:r>
              <a:rPr lang="en-US" sz="1150" i="1" dirty="0">
                <a:solidFill>
                  <a:srgbClr val="1B3746"/>
                </a:solidFill>
                <a:latin typeface="Calibri" pitchFamily="34" charset="0"/>
                <a:ea typeface="Calibri" pitchFamily="34" charset="-122"/>
                <a:cs typeface="Calibri" pitchFamily="34" charset="-120"/>
              </a:rPr>
              <a:t>Delhi records the most Extreme-severity events (21) alongside its lead in total disaster count — flagging it as the priority city for emergency-response capacity.</a:t>
            </a:r>
            <a:endParaRPr lang="en-US" sz="1150" dirty="0"/>
          </a:p>
        </p:txBody>
      </p:sp>
      <p:sp>
        <p:nvSpPr>
          <p:cNvPr id="25" name="Text 22"/>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6"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04</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City-wise Comparative Impact</a:t>
            </a:r>
            <a:endParaRPr lang="en-US" sz="3000" dirty="0"/>
          </a:p>
        </p:txBody>
      </p:sp>
      <p:graphicFrame>
        <p:nvGraphicFramePr>
          <p:cNvPr id="4" name="Chart 0"/>
          <p:cNvGraphicFramePr/>
          <p:nvPr/>
        </p:nvGraphicFramePr>
        <p:xfrm>
          <a:off x="502920" y="1463040"/>
          <a:ext cx="557784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1600200"/>
          <a:ext cx="5257800" cy="1920240"/>
        </p:xfrm>
        <a:graphic>
          <a:graphicData uri="http://schemas.openxmlformats.org/drawingml/2006/table">
            <a:tbl>
              <a:tblPr/>
              <a:tblGrid>
                <a:gridCol w="1965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rPr>
                        <a:t>City</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tc>
                  <a:txBody>
                    <a:bodyPr/>
                    <a:lstStyle/>
                    <a:p>
                      <a:pPr marL="0" indent="0">
                        <a:buNone/>
                      </a:pPr>
                      <a:r>
                        <a:rPr lang="en-US" sz="1200" b="1" dirty="0">
                          <a:solidFill>
                            <a:srgbClr val="FFFFFF"/>
                          </a:solidFill>
                        </a:rPr>
                        <a:t>Events</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tc>
                  <a:txBody>
                    <a:bodyPr/>
                    <a:lstStyle/>
                    <a:p>
                      <a:pPr marL="0" indent="0">
                        <a:buNone/>
                      </a:pPr>
                      <a:r>
                        <a:rPr lang="en-US" sz="1200" b="1" dirty="0">
                          <a:solidFill>
                            <a:srgbClr val="FFFFFF"/>
                          </a:solidFill>
                        </a:rPr>
                        <a:t>Deaths</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B3746"/>
                          </a:solidFill>
                        </a:rPr>
                        <a:t>Delhi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190</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779,835</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B3746"/>
                          </a:solidFill>
                        </a:rPr>
                        <a:t>Mumbai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165</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699,067</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B3746"/>
                          </a:solidFill>
                        </a:rPr>
                        <a:t>Kolkata</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162</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622,401</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B3746"/>
                          </a:solidFill>
                        </a:rPr>
                        <a:t>Chennai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146</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597,917</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extLst>
                  <a:ext uri="{0D108BD9-81ED-4DB2-BD59-A6C34878D82A}">
                    <a16:rowId xmlns:a16="http://schemas.microsoft.com/office/drawing/2014/main" val="10004"/>
                  </a:ext>
                </a:extLst>
              </a:tr>
            </a:tbl>
          </a:graphicData>
        </a:graphic>
      </p:graphicFrame>
      <p:sp>
        <p:nvSpPr>
          <p:cNvPr id="6" name="Text 2"/>
          <p:cNvSpPr/>
          <p:nvPr/>
        </p:nvSpPr>
        <p:spPr>
          <a:xfrm>
            <a:off x="6400800" y="3794760"/>
            <a:ext cx="521208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TAKEAWAY</a:t>
            </a:r>
            <a:endParaRPr lang="en-US" sz="1100" dirty="0"/>
          </a:p>
        </p:txBody>
      </p:sp>
      <p:sp>
        <p:nvSpPr>
          <p:cNvPr id="7" name="Text 3"/>
          <p:cNvSpPr/>
          <p:nvPr/>
        </p:nvSpPr>
        <p:spPr>
          <a:xfrm>
            <a:off x="6400800" y="4114800"/>
            <a:ext cx="5212080" cy="1737360"/>
          </a:xfrm>
          <a:prstGeom prst="rect">
            <a:avLst/>
          </a:prstGeom>
          <a:noFill/>
          <a:ln/>
        </p:spPr>
        <p:txBody>
          <a:bodyPr wrap="square" rtlCol="0" anchor="ctr"/>
          <a:lstStyle/>
          <a:p>
            <a:pPr marL="0" indent="0">
              <a:lnSpc>
                <a:spcPct val="130000"/>
              </a:lnSpc>
              <a:buNone/>
            </a:pPr>
            <a:r>
              <a:rPr lang="en-US" sz="1250" dirty="0">
                <a:solidFill>
                  <a:srgbClr val="1B3746"/>
                </a:solidFill>
                <a:latin typeface="Calibri" pitchFamily="34" charset="0"/>
                <a:ea typeface="Calibri" pitchFamily="34" charset="-122"/>
                <a:cs typeface="Calibri" pitchFamily="34" charset="-120"/>
              </a:rPr>
              <a:t>Delhi leads on every axis — most events (190), highest death toll (779,835), and the most Extreme-severity events. Mumbai, Kolkata and Chennai follow within a tighter, more comparable band, suggesting Delhi warrants disproportionate resource allocation relative to the other three metros.</a:t>
            </a:r>
            <a:endParaRPr lang="en-US" sz="1250" dirty="0"/>
          </a:p>
        </p:txBody>
      </p:sp>
      <p:sp>
        <p:nvSpPr>
          <p:cNvPr id="8" name="Text 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5"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05</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Year-wise Trend (2010–2025)</a:t>
            </a:r>
            <a:endParaRPr lang="en-US" sz="3000" dirty="0"/>
          </a:p>
        </p:txBody>
      </p:sp>
      <p:graphicFrame>
        <p:nvGraphicFramePr>
          <p:cNvPr id="4" name="Chart 0"/>
          <p:cNvGraphicFramePr/>
          <p:nvPr/>
        </p:nvGraphicFramePr>
        <p:xfrm>
          <a:off x="502920" y="1508760"/>
          <a:ext cx="102412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02920" y="5715000"/>
            <a:ext cx="10241280" cy="777240"/>
          </a:xfrm>
          <a:prstGeom prst="roundRect">
            <a:avLst>
              <a:gd name="adj" fmla="val 9412"/>
            </a:avLst>
          </a:prstGeom>
          <a:solidFill>
            <a:srgbClr val="F4F6F6"/>
          </a:solidFill>
          <a:ln/>
        </p:spPr>
      </p:sp>
      <p:sp>
        <p:nvSpPr>
          <p:cNvPr id="6" name="Text 3"/>
          <p:cNvSpPr/>
          <p:nvPr/>
        </p:nvSpPr>
        <p:spPr>
          <a:xfrm>
            <a:off x="731520" y="5852160"/>
            <a:ext cx="9784080" cy="548640"/>
          </a:xfrm>
          <a:prstGeom prst="rect">
            <a:avLst/>
          </a:prstGeom>
          <a:noFill/>
          <a:ln/>
        </p:spPr>
        <p:txBody>
          <a:bodyPr wrap="square" rtlCol="0" anchor="ctr"/>
          <a:lstStyle/>
          <a:p>
            <a:pPr marL="0" indent="0">
              <a:lnSpc>
                <a:spcPct val="120000"/>
              </a:lnSpc>
              <a:buNone/>
            </a:pPr>
            <a:r>
              <a:rPr lang="en-US" sz="1200" b="1" dirty="0">
                <a:solidFill>
                  <a:srgbClr val="1B3746"/>
                </a:solidFill>
                <a:latin typeface="Calibri" pitchFamily="34" charset="0"/>
                <a:ea typeface="Calibri" pitchFamily="34" charset="-122"/>
                <a:cs typeface="Calibri" pitchFamily="34" charset="-120"/>
              </a:rPr>
              <a:t>2021 was the peak year with 55 events. </a:t>
            </a:r>
            <a:r>
              <a:rPr lang="en-US" sz="1200" dirty="0">
                <a:solidFill>
                  <a:srgbClr val="1B3746"/>
                </a:solidFill>
                <a:latin typeface="Calibri" pitchFamily="34" charset="0"/>
                <a:ea typeface="Calibri" pitchFamily="34" charset="-122"/>
                <a:cs typeface="Calibri" pitchFamily="34" charset="-120"/>
              </a:rPr>
              <a:t>The 2018–2025 average (42.75 events/yr) runs higher than the 2010–2017 average (40.1 events/yr) — a mild upward drift rather than a sharp spike, with 2015 the quietest year on record (30 events).</a:t>
            </a:r>
            <a:endParaRPr lang="en-US" sz="1200" dirty="0"/>
          </a:p>
        </p:txBody>
      </p:sp>
      <p:sp>
        <p:nvSpPr>
          <p:cNvPr id="7" name="Text 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06</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Relief Funding Gap by Disaster Type</a:t>
            </a:r>
            <a:endParaRPr lang="en-US" sz="3000" dirty="0"/>
          </a:p>
        </p:txBody>
      </p:sp>
      <p:graphicFrame>
        <p:nvGraphicFramePr>
          <p:cNvPr id="4" name="Chart 0"/>
          <p:cNvGraphicFramePr/>
          <p:nvPr/>
        </p:nvGraphicFramePr>
        <p:xfrm>
          <a:off x="502920" y="150876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508760"/>
            <a:ext cx="4206240" cy="2057400"/>
          </a:xfrm>
          <a:prstGeom prst="roundRect">
            <a:avLst>
              <a:gd name="adj" fmla="val 3556"/>
            </a:avLst>
          </a:prstGeom>
          <a:solidFill>
            <a:srgbClr val="E4572E"/>
          </a:solidFill>
          <a:ln/>
          <a:effectLst>
            <a:outerShdw blurRad="101600" dist="38100" dir="5400000" algn="bl" rotWithShape="0">
              <a:srgbClr val="000000">
                <a:alpha val="15000"/>
              </a:srgbClr>
            </a:outerShdw>
          </a:effectLst>
        </p:spPr>
      </p:sp>
      <p:pic>
        <p:nvPicPr>
          <p:cNvPr id="6" name="Image 0" descr="preencoded.png"/>
          <p:cNvPicPr>
            <a:picLocks noChangeAspect="1"/>
          </p:cNvPicPr>
          <p:nvPr/>
        </p:nvPicPr>
        <p:blipFill>
          <a:blip r:embed="rId4"/>
          <a:stretch>
            <a:fillRect/>
          </a:stretch>
        </p:blipFill>
        <p:spPr>
          <a:xfrm>
            <a:off x="7726680" y="1783080"/>
            <a:ext cx="365760" cy="365760"/>
          </a:xfrm>
          <a:prstGeom prst="rect">
            <a:avLst/>
          </a:prstGeom>
        </p:spPr>
      </p:pic>
      <p:sp>
        <p:nvSpPr>
          <p:cNvPr id="7" name="Text 3"/>
          <p:cNvSpPr/>
          <p:nvPr/>
        </p:nvSpPr>
        <p:spPr>
          <a:xfrm>
            <a:off x="7726680" y="2240280"/>
            <a:ext cx="36576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0.81%</a:t>
            </a:r>
            <a:endParaRPr lang="en-US" sz="2800" dirty="0"/>
          </a:p>
        </p:txBody>
      </p:sp>
      <p:sp>
        <p:nvSpPr>
          <p:cNvPr id="8" name="Text 4"/>
          <p:cNvSpPr/>
          <p:nvPr/>
        </p:nvSpPr>
        <p:spPr>
          <a:xfrm>
            <a:off x="7726680" y="2788920"/>
            <a:ext cx="3657600" cy="640080"/>
          </a:xfrm>
          <a:prstGeom prst="rect">
            <a:avLst/>
          </a:prstGeom>
          <a:noFill/>
          <a:ln/>
        </p:spPr>
        <p:txBody>
          <a:bodyPr wrap="square"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average relief coverage per disaster event</a:t>
            </a:r>
            <a:endParaRPr lang="en-US" sz="1200" dirty="0"/>
          </a:p>
        </p:txBody>
      </p:sp>
      <p:sp>
        <p:nvSpPr>
          <p:cNvPr id="9" name="Shape 5"/>
          <p:cNvSpPr/>
          <p:nvPr/>
        </p:nvSpPr>
        <p:spPr>
          <a:xfrm>
            <a:off x="7452360" y="3749040"/>
            <a:ext cx="4206240" cy="2240280"/>
          </a:xfrm>
          <a:prstGeom prst="roundRect">
            <a:avLst>
              <a:gd name="adj" fmla="val 3265"/>
            </a:avLst>
          </a:prstGeom>
          <a:solidFill>
            <a:srgbClr val="F4F6F6"/>
          </a:solidFill>
          <a:ln/>
        </p:spPr>
      </p:sp>
      <p:sp>
        <p:nvSpPr>
          <p:cNvPr id="10" name="Text 6"/>
          <p:cNvSpPr/>
          <p:nvPr/>
        </p:nvSpPr>
        <p:spPr>
          <a:xfrm>
            <a:off x="7726680" y="3931920"/>
            <a:ext cx="36576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WHAT THIS MEANS</a:t>
            </a:r>
            <a:endParaRPr lang="en-US" sz="1100" dirty="0"/>
          </a:p>
        </p:txBody>
      </p:sp>
      <p:sp>
        <p:nvSpPr>
          <p:cNvPr id="11" name="Text 7"/>
          <p:cNvSpPr/>
          <p:nvPr/>
        </p:nvSpPr>
        <p:spPr>
          <a:xfrm>
            <a:off x="7726680" y="4251960"/>
            <a:ext cx="3703320" cy="1600200"/>
          </a:xfrm>
          <a:prstGeom prst="rect">
            <a:avLst/>
          </a:prstGeom>
          <a:noFill/>
          <a:ln/>
        </p:spPr>
        <p:txBody>
          <a:bodyPr wrap="square" rtlCol="0" anchor="ctr"/>
          <a:lstStyle/>
          <a:p>
            <a:pPr marL="0" indent="0">
              <a:lnSpc>
                <a:spcPct val="125000"/>
              </a:lnSpc>
              <a:buNone/>
            </a:pPr>
            <a:r>
              <a:rPr lang="en-US" sz="1150" dirty="0">
                <a:solidFill>
                  <a:srgbClr val="1B3746"/>
                </a:solidFill>
                <a:latin typeface="Calibri" pitchFamily="34" charset="0"/>
                <a:ea typeface="Calibri" pitchFamily="34" charset="-122"/>
                <a:cs typeface="Calibri" pitchFamily="34" charset="-120"/>
              </a:rPr>
              <a:t>Earthquake (1.74%) and Cyclone (1.63%) events receive the strongest relative relief coverage, while Tsunami (0.31%) and Flood (0.40%) events are the most under-funded relative to their damage — a clear target area for improving relief allocation.</a:t>
            </a:r>
            <a:endParaRPr lang="en-US" sz="1150" dirty="0"/>
          </a:p>
        </p:txBody>
      </p:sp>
      <p:sp>
        <p:nvSpPr>
          <p:cNvPr id="12"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3"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746"/>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21792"/>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Insights</a:t>
            </a:r>
            <a:endParaRPr lang="en-US" sz="3000" dirty="0"/>
          </a:p>
        </p:txBody>
      </p:sp>
      <p:sp>
        <p:nvSpPr>
          <p:cNvPr id="4" name="Shape 2"/>
          <p:cNvSpPr/>
          <p:nvPr/>
        </p:nvSpPr>
        <p:spPr>
          <a:xfrm>
            <a:off x="548640" y="1554480"/>
            <a:ext cx="5394960" cy="1554480"/>
          </a:xfrm>
          <a:prstGeom prst="roundRect">
            <a:avLst>
              <a:gd name="adj" fmla="val 4706"/>
            </a:avLst>
          </a:prstGeom>
          <a:solidFill>
            <a:srgbClr val="23495A"/>
          </a:solidFill>
          <a:ln/>
        </p:spPr>
      </p:sp>
      <p:pic>
        <p:nvPicPr>
          <p:cNvPr id="5" name="Image 0" descr="preencoded.png"/>
          <p:cNvPicPr>
            <a:picLocks noChangeAspect="1"/>
          </p:cNvPicPr>
          <p:nvPr/>
        </p:nvPicPr>
        <p:blipFill>
          <a:blip r:embed="rId3"/>
          <a:stretch>
            <a:fillRect/>
          </a:stretch>
        </p:blipFill>
        <p:spPr>
          <a:xfrm>
            <a:off x="822960" y="1810512"/>
            <a:ext cx="384048" cy="384048"/>
          </a:xfrm>
          <a:prstGeom prst="rect">
            <a:avLst/>
          </a:prstGeom>
        </p:spPr>
      </p:pic>
      <p:sp>
        <p:nvSpPr>
          <p:cNvPr id="6" name="Text 3"/>
          <p:cNvSpPr/>
          <p:nvPr/>
        </p:nvSpPr>
        <p:spPr>
          <a:xfrm>
            <a:off x="1371600" y="173736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Delhi is the highest-risk city</a:t>
            </a:r>
            <a:endParaRPr lang="en-US" sz="1450" dirty="0"/>
          </a:p>
        </p:txBody>
      </p:sp>
      <p:sp>
        <p:nvSpPr>
          <p:cNvPr id="7" name="Text 4"/>
          <p:cNvSpPr/>
          <p:nvPr/>
        </p:nvSpPr>
        <p:spPr>
          <a:xfrm>
            <a:off x="1371600" y="217627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Leading on event count, deaths, and Extreme-severity incidents.</a:t>
            </a:r>
            <a:endParaRPr lang="en-US" sz="1150" dirty="0"/>
          </a:p>
        </p:txBody>
      </p:sp>
      <p:sp>
        <p:nvSpPr>
          <p:cNvPr id="8" name="Shape 5"/>
          <p:cNvSpPr/>
          <p:nvPr/>
        </p:nvSpPr>
        <p:spPr>
          <a:xfrm>
            <a:off x="6245352" y="1554480"/>
            <a:ext cx="5394960" cy="1554480"/>
          </a:xfrm>
          <a:prstGeom prst="roundRect">
            <a:avLst>
              <a:gd name="adj" fmla="val 4706"/>
            </a:avLst>
          </a:prstGeom>
          <a:solidFill>
            <a:srgbClr val="23495A"/>
          </a:solidFill>
          <a:ln/>
        </p:spPr>
      </p:sp>
      <p:pic>
        <p:nvPicPr>
          <p:cNvPr id="9" name="Image 1" descr="preencoded.png"/>
          <p:cNvPicPr>
            <a:picLocks noChangeAspect="1"/>
          </p:cNvPicPr>
          <p:nvPr/>
        </p:nvPicPr>
        <p:blipFill>
          <a:blip r:embed="rId4"/>
          <a:stretch>
            <a:fillRect/>
          </a:stretch>
        </p:blipFill>
        <p:spPr>
          <a:xfrm>
            <a:off x="6519672" y="1810512"/>
            <a:ext cx="384048" cy="384048"/>
          </a:xfrm>
          <a:prstGeom prst="rect">
            <a:avLst/>
          </a:prstGeom>
        </p:spPr>
      </p:pic>
      <p:sp>
        <p:nvSpPr>
          <p:cNvPr id="10" name="Text 6"/>
          <p:cNvSpPr/>
          <p:nvPr/>
        </p:nvSpPr>
        <p:spPr>
          <a:xfrm>
            <a:off x="7068312" y="173736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Drought &amp; Heatwave are most frequent</a:t>
            </a:r>
            <a:endParaRPr lang="en-US" sz="1450" dirty="0"/>
          </a:p>
        </p:txBody>
      </p:sp>
      <p:sp>
        <p:nvSpPr>
          <p:cNvPr id="11" name="Text 7"/>
          <p:cNvSpPr/>
          <p:nvPr/>
        </p:nvSpPr>
        <p:spPr>
          <a:xfrm>
            <a:off x="7068312" y="217627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91 events each, together over a quarter of the dataset.</a:t>
            </a:r>
            <a:endParaRPr lang="en-US" sz="1150" dirty="0"/>
          </a:p>
        </p:txBody>
      </p:sp>
      <p:sp>
        <p:nvSpPr>
          <p:cNvPr id="12" name="Shape 8"/>
          <p:cNvSpPr/>
          <p:nvPr/>
        </p:nvSpPr>
        <p:spPr>
          <a:xfrm>
            <a:off x="548640" y="3337560"/>
            <a:ext cx="5394960" cy="1554480"/>
          </a:xfrm>
          <a:prstGeom prst="roundRect">
            <a:avLst>
              <a:gd name="adj" fmla="val 4706"/>
            </a:avLst>
          </a:prstGeom>
          <a:solidFill>
            <a:srgbClr val="23495A"/>
          </a:solidFill>
          <a:ln/>
        </p:spPr>
      </p:sp>
      <p:pic>
        <p:nvPicPr>
          <p:cNvPr id="13" name="Image 2" descr="preencoded.png"/>
          <p:cNvPicPr>
            <a:picLocks noChangeAspect="1"/>
          </p:cNvPicPr>
          <p:nvPr/>
        </p:nvPicPr>
        <p:blipFill>
          <a:blip r:embed="rId5"/>
          <a:stretch>
            <a:fillRect/>
          </a:stretch>
        </p:blipFill>
        <p:spPr>
          <a:xfrm>
            <a:off x="822960" y="3593592"/>
            <a:ext cx="384048" cy="384048"/>
          </a:xfrm>
          <a:prstGeom prst="rect">
            <a:avLst/>
          </a:prstGeom>
        </p:spPr>
      </p:pic>
      <p:sp>
        <p:nvSpPr>
          <p:cNvPr id="14" name="Text 9"/>
          <p:cNvSpPr/>
          <p:nvPr/>
        </p:nvSpPr>
        <p:spPr>
          <a:xfrm>
            <a:off x="1371600" y="352044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Tsunami is the costliest per event</a:t>
            </a:r>
            <a:endParaRPr lang="en-US" sz="1450" dirty="0"/>
          </a:p>
        </p:txBody>
      </p:sp>
      <p:sp>
        <p:nvSpPr>
          <p:cNvPr id="15" name="Text 10"/>
          <p:cNvSpPr/>
          <p:nvPr/>
        </p:nvSpPr>
        <p:spPr>
          <a:xfrm>
            <a:off x="1371600" y="395935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Fewer events (89) but the highest total economic damage.</a:t>
            </a:r>
            <a:endParaRPr lang="en-US" sz="1150" dirty="0"/>
          </a:p>
        </p:txBody>
      </p:sp>
      <p:sp>
        <p:nvSpPr>
          <p:cNvPr id="16" name="Shape 11"/>
          <p:cNvSpPr/>
          <p:nvPr/>
        </p:nvSpPr>
        <p:spPr>
          <a:xfrm>
            <a:off x="6245352" y="3337560"/>
            <a:ext cx="5394960" cy="1554480"/>
          </a:xfrm>
          <a:prstGeom prst="roundRect">
            <a:avLst>
              <a:gd name="adj" fmla="val 4706"/>
            </a:avLst>
          </a:prstGeom>
          <a:solidFill>
            <a:srgbClr val="23495A"/>
          </a:solidFill>
          <a:ln/>
        </p:spPr>
      </p:sp>
      <p:pic>
        <p:nvPicPr>
          <p:cNvPr id="17" name="Image 3" descr="preencoded.png"/>
          <p:cNvPicPr>
            <a:picLocks noChangeAspect="1"/>
          </p:cNvPicPr>
          <p:nvPr/>
        </p:nvPicPr>
        <p:blipFill>
          <a:blip r:embed="rId6"/>
          <a:stretch>
            <a:fillRect/>
          </a:stretch>
        </p:blipFill>
        <p:spPr>
          <a:xfrm>
            <a:off x="6519672" y="3593592"/>
            <a:ext cx="384048" cy="384048"/>
          </a:xfrm>
          <a:prstGeom prst="rect">
            <a:avLst/>
          </a:prstGeom>
        </p:spPr>
      </p:pic>
      <p:sp>
        <p:nvSpPr>
          <p:cNvPr id="18" name="Text 12"/>
          <p:cNvSpPr/>
          <p:nvPr/>
        </p:nvSpPr>
        <p:spPr>
          <a:xfrm>
            <a:off x="7068312" y="352044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Recovery averages over a year</a:t>
            </a:r>
            <a:endParaRPr lang="en-US" sz="1450" dirty="0"/>
          </a:p>
        </p:txBody>
      </p:sp>
      <p:sp>
        <p:nvSpPr>
          <p:cNvPr id="19" name="Text 13"/>
          <p:cNvSpPr/>
          <p:nvPr/>
        </p:nvSpPr>
        <p:spPr>
          <a:xfrm>
            <a:off x="7068312" y="395935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375 days from disaster to recovery, on average.</a:t>
            </a:r>
            <a:endParaRPr lang="en-US" sz="1150" dirty="0"/>
          </a:p>
        </p:txBody>
      </p:sp>
      <p:sp>
        <p:nvSpPr>
          <p:cNvPr id="20" name="Shape 14"/>
          <p:cNvSpPr/>
          <p:nvPr/>
        </p:nvSpPr>
        <p:spPr>
          <a:xfrm>
            <a:off x="548640" y="5120640"/>
            <a:ext cx="5394960" cy="1554480"/>
          </a:xfrm>
          <a:prstGeom prst="roundRect">
            <a:avLst>
              <a:gd name="adj" fmla="val 4706"/>
            </a:avLst>
          </a:prstGeom>
          <a:solidFill>
            <a:srgbClr val="23495A"/>
          </a:solidFill>
          <a:ln/>
        </p:spPr>
      </p:sp>
      <p:pic>
        <p:nvPicPr>
          <p:cNvPr id="21" name="Image 4" descr="preencoded.png"/>
          <p:cNvPicPr>
            <a:picLocks noChangeAspect="1"/>
          </p:cNvPicPr>
          <p:nvPr/>
        </p:nvPicPr>
        <p:blipFill>
          <a:blip r:embed="rId7"/>
          <a:stretch>
            <a:fillRect/>
          </a:stretch>
        </p:blipFill>
        <p:spPr>
          <a:xfrm>
            <a:off x="822960" y="5376672"/>
            <a:ext cx="384048" cy="384048"/>
          </a:xfrm>
          <a:prstGeom prst="rect">
            <a:avLst/>
          </a:prstGeom>
        </p:spPr>
      </p:pic>
      <p:sp>
        <p:nvSpPr>
          <p:cNvPr id="22" name="Text 15"/>
          <p:cNvSpPr/>
          <p:nvPr/>
        </p:nvSpPr>
        <p:spPr>
          <a:xfrm>
            <a:off x="1371600" y="530352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Relief coverage stays under 1%</a:t>
            </a:r>
            <a:endParaRPr lang="en-US" sz="1450" dirty="0"/>
          </a:p>
        </p:txBody>
      </p:sp>
      <p:sp>
        <p:nvSpPr>
          <p:cNvPr id="23" name="Text 16"/>
          <p:cNvSpPr/>
          <p:nvPr/>
        </p:nvSpPr>
        <p:spPr>
          <a:xfrm>
            <a:off x="1371600" y="574243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A persistent, wide gap between economic damage and disbursed relief.</a:t>
            </a:r>
            <a:endParaRPr lang="en-US" sz="1150" dirty="0"/>
          </a:p>
        </p:txBody>
      </p:sp>
      <p:sp>
        <p:nvSpPr>
          <p:cNvPr id="24" name="Shape 17"/>
          <p:cNvSpPr/>
          <p:nvPr/>
        </p:nvSpPr>
        <p:spPr>
          <a:xfrm>
            <a:off x="6245352" y="5120640"/>
            <a:ext cx="5394960" cy="1554480"/>
          </a:xfrm>
          <a:prstGeom prst="roundRect">
            <a:avLst>
              <a:gd name="adj" fmla="val 4706"/>
            </a:avLst>
          </a:prstGeom>
          <a:solidFill>
            <a:srgbClr val="23495A"/>
          </a:solidFill>
          <a:ln/>
        </p:spPr>
      </p:sp>
      <p:pic>
        <p:nvPicPr>
          <p:cNvPr id="25" name="Image 5" descr="preencoded.png"/>
          <p:cNvPicPr>
            <a:picLocks noChangeAspect="1"/>
          </p:cNvPicPr>
          <p:nvPr/>
        </p:nvPicPr>
        <p:blipFill>
          <a:blip r:embed="rId8"/>
          <a:stretch>
            <a:fillRect/>
          </a:stretch>
        </p:blipFill>
        <p:spPr>
          <a:xfrm>
            <a:off x="6519672" y="5376672"/>
            <a:ext cx="384048" cy="384048"/>
          </a:xfrm>
          <a:prstGeom prst="rect">
            <a:avLst/>
          </a:prstGeom>
        </p:spPr>
      </p:pic>
      <p:sp>
        <p:nvSpPr>
          <p:cNvPr id="26" name="Text 18"/>
          <p:cNvSpPr/>
          <p:nvPr/>
        </p:nvSpPr>
        <p:spPr>
          <a:xfrm>
            <a:off x="7068312" y="530352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Event frequency is drifting upward</a:t>
            </a:r>
            <a:endParaRPr lang="en-US" sz="1450" dirty="0"/>
          </a:p>
        </p:txBody>
      </p:sp>
      <p:sp>
        <p:nvSpPr>
          <p:cNvPr id="27" name="Text 19"/>
          <p:cNvSpPr/>
          <p:nvPr/>
        </p:nvSpPr>
        <p:spPr>
          <a:xfrm>
            <a:off x="7068312" y="574243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2018– 2025 averages more events/year than 2010–2017.</a:t>
            </a:r>
            <a:endParaRPr lang="en-US" sz="1150" dirty="0"/>
          </a:p>
        </p:txBody>
      </p:sp>
      <p:sp>
        <p:nvSpPr>
          <p:cNvPr id="28" name="Text 20"/>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9"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746"/>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22730"/>
          </a:solidFill>
          <a:ln/>
        </p:spPr>
      </p:sp>
      <p:pic>
        <p:nvPicPr>
          <p:cNvPr id="3" name="Image 0" descr="preencoded.png"/>
          <p:cNvPicPr>
            <a:picLocks noChangeAspect="1"/>
          </p:cNvPicPr>
          <p:nvPr/>
        </p:nvPicPr>
        <p:blipFill>
          <a:blip r:embed="rId3"/>
          <a:stretch>
            <a:fillRect/>
          </a:stretch>
        </p:blipFill>
        <p:spPr>
          <a:xfrm>
            <a:off x="685800" y="640080"/>
            <a:ext cx="457200" cy="457200"/>
          </a:xfrm>
          <a:prstGeom prst="rect">
            <a:avLst/>
          </a:prstGeom>
        </p:spPr>
      </p:pic>
      <p:sp>
        <p:nvSpPr>
          <p:cNvPr id="4" name="Text 1"/>
          <p:cNvSpPr/>
          <p:nvPr/>
        </p:nvSpPr>
        <p:spPr>
          <a:xfrm>
            <a:off x="1234440" y="658368"/>
            <a:ext cx="54864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CONCLUSION</a:t>
            </a:r>
            <a:endParaRPr lang="en-US" sz="1300" dirty="0"/>
          </a:p>
        </p:txBody>
      </p:sp>
      <p:sp>
        <p:nvSpPr>
          <p:cNvPr id="5" name="Text 2"/>
          <p:cNvSpPr/>
          <p:nvPr/>
        </p:nvSpPr>
        <p:spPr>
          <a:xfrm>
            <a:off x="685800" y="1234440"/>
            <a:ext cx="10607040" cy="1737360"/>
          </a:xfrm>
          <a:prstGeom prst="rect">
            <a:avLst/>
          </a:prstGeom>
          <a:noFill/>
          <a:ln/>
        </p:spPr>
        <p:txBody>
          <a:bodyPr wrap="square"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This Power BI dashboard provides a comprehensive analysis of disasters across India by visualizing their frequency, geographical distribution, affected population, economic losses, and response trends. The interactive reports help identify high-risk cities, major disaster types, and patterns over time — enabling data-driven decisions for disaster preparedness, resource planning, and policy development for a safer, more resilient India.</a:t>
            </a:r>
            <a:endParaRPr lang="en-US" sz="1450" dirty="0"/>
          </a:p>
        </p:txBody>
      </p:sp>
      <p:pic>
        <p:nvPicPr>
          <p:cNvPr id="6" name="Image 1" descr="preencoded.png"/>
          <p:cNvPicPr>
            <a:picLocks noChangeAspect="1"/>
          </p:cNvPicPr>
          <p:nvPr/>
        </p:nvPicPr>
        <p:blipFill>
          <a:blip r:embed="rId4"/>
          <a:stretch>
            <a:fillRect/>
          </a:stretch>
        </p:blipFill>
        <p:spPr>
          <a:xfrm>
            <a:off x="685800" y="3246120"/>
            <a:ext cx="457200" cy="457200"/>
          </a:xfrm>
          <a:prstGeom prst="rect">
            <a:avLst/>
          </a:prstGeom>
        </p:spPr>
      </p:pic>
      <p:sp>
        <p:nvSpPr>
          <p:cNvPr id="7" name="Text 3"/>
          <p:cNvSpPr/>
          <p:nvPr/>
        </p:nvSpPr>
        <p:spPr>
          <a:xfrm>
            <a:off x="1234440" y="3264408"/>
            <a:ext cx="54864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FUTURE SCOPE</a:t>
            </a:r>
            <a:endParaRPr lang="en-US" sz="1300" dirty="0"/>
          </a:p>
        </p:txBody>
      </p:sp>
      <p:pic>
        <p:nvPicPr>
          <p:cNvPr id="8" name="Image 2" descr="preencoded.png"/>
          <p:cNvPicPr>
            <a:picLocks noChangeAspect="1"/>
          </p:cNvPicPr>
          <p:nvPr/>
        </p:nvPicPr>
        <p:blipFill>
          <a:blip r:embed="rId5"/>
          <a:stretch>
            <a:fillRect/>
          </a:stretch>
        </p:blipFill>
        <p:spPr>
          <a:xfrm>
            <a:off x="777240" y="3840480"/>
            <a:ext cx="274320" cy="274320"/>
          </a:xfrm>
          <a:prstGeom prst="rect">
            <a:avLst/>
          </a:prstGeom>
        </p:spPr>
      </p:pic>
      <p:sp>
        <p:nvSpPr>
          <p:cNvPr id="9" name="Text 4"/>
          <p:cNvSpPr/>
          <p:nvPr/>
        </p:nvSpPr>
        <p:spPr>
          <a:xfrm>
            <a:off x="1188720" y="3803904"/>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Integrate real-time disaster data from government APIs</a:t>
            </a:r>
            <a:endParaRPr lang="en-US" sz="1350" dirty="0"/>
          </a:p>
        </p:txBody>
      </p:sp>
      <p:pic>
        <p:nvPicPr>
          <p:cNvPr id="10" name="Image 3" descr="preencoded.png"/>
          <p:cNvPicPr>
            <a:picLocks noChangeAspect="1"/>
          </p:cNvPicPr>
          <p:nvPr/>
        </p:nvPicPr>
        <p:blipFill>
          <a:blip r:embed="rId5"/>
          <a:stretch>
            <a:fillRect/>
          </a:stretch>
        </p:blipFill>
        <p:spPr>
          <a:xfrm>
            <a:off x="777240" y="4325112"/>
            <a:ext cx="274320" cy="274320"/>
          </a:xfrm>
          <a:prstGeom prst="rect">
            <a:avLst/>
          </a:prstGeom>
        </p:spPr>
      </p:pic>
      <p:sp>
        <p:nvSpPr>
          <p:cNvPr id="11" name="Text 5"/>
          <p:cNvSpPr/>
          <p:nvPr/>
        </p:nvSpPr>
        <p:spPr>
          <a:xfrm>
            <a:off x="1188720" y="4288536"/>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Add weather and satellite data for predictive analysis</a:t>
            </a:r>
            <a:endParaRPr lang="en-US" sz="1350" dirty="0"/>
          </a:p>
        </p:txBody>
      </p:sp>
      <p:pic>
        <p:nvPicPr>
          <p:cNvPr id="12" name="Image 4" descr="preencoded.png"/>
          <p:cNvPicPr>
            <a:picLocks noChangeAspect="1"/>
          </p:cNvPicPr>
          <p:nvPr/>
        </p:nvPicPr>
        <p:blipFill>
          <a:blip r:embed="rId5"/>
          <a:stretch>
            <a:fillRect/>
          </a:stretch>
        </p:blipFill>
        <p:spPr>
          <a:xfrm>
            <a:off x="777240" y="4809744"/>
            <a:ext cx="274320" cy="274320"/>
          </a:xfrm>
          <a:prstGeom prst="rect">
            <a:avLst/>
          </a:prstGeom>
        </p:spPr>
      </p:pic>
      <p:sp>
        <p:nvSpPr>
          <p:cNvPr id="13" name="Text 6"/>
          <p:cNvSpPr/>
          <p:nvPr/>
        </p:nvSpPr>
        <p:spPr>
          <a:xfrm>
            <a:off x="1188720" y="4773168"/>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Develop AI-based disaster risk forecasting models</a:t>
            </a:r>
            <a:endParaRPr lang="en-US" sz="1350" dirty="0"/>
          </a:p>
        </p:txBody>
      </p:sp>
      <p:pic>
        <p:nvPicPr>
          <p:cNvPr id="14" name="Image 5" descr="preencoded.png"/>
          <p:cNvPicPr>
            <a:picLocks noChangeAspect="1"/>
          </p:cNvPicPr>
          <p:nvPr/>
        </p:nvPicPr>
        <p:blipFill>
          <a:blip r:embed="rId5"/>
          <a:stretch>
            <a:fillRect/>
          </a:stretch>
        </p:blipFill>
        <p:spPr>
          <a:xfrm>
            <a:off x="777240" y="5294376"/>
            <a:ext cx="274320" cy="274320"/>
          </a:xfrm>
          <a:prstGeom prst="rect">
            <a:avLst/>
          </a:prstGeom>
        </p:spPr>
      </p:pic>
      <p:sp>
        <p:nvSpPr>
          <p:cNvPr id="15" name="Text 7"/>
          <p:cNvSpPr/>
          <p:nvPr/>
        </p:nvSpPr>
        <p:spPr>
          <a:xfrm>
            <a:off x="1188720" y="5257800"/>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Include district-level analysis for more detailed insights</a:t>
            </a:r>
            <a:endParaRPr lang="en-US" sz="1350" dirty="0"/>
          </a:p>
        </p:txBody>
      </p:sp>
      <p:pic>
        <p:nvPicPr>
          <p:cNvPr id="16" name="Image 6" descr="preencoded.png"/>
          <p:cNvPicPr>
            <a:picLocks noChangeAspect="1"/>
          </p:cNvPicPr>
          <p:nvPr/>
        </p:nvPicPr>
        <p:blipFill>
          <a:blip r:embed="rId5"/>
          <a:stretch>
            <a:fillRect/>
          </a:stretch>
        </p:blipFill>
        <p:spPr>
          <a:xfrm>
            <a:off x="777240" y="5779008"/>
            <a:ext cx="274320" cy="274320"/>
          </a:xfrm>
          <a:prstGeom prst="rect">
            <a:avLst/>
          </a:prstGeom>
        </p:spPr>
      </p:pic>
      <p:sp>
        <p:nvSpPr>
          <p:cNvPr id="17" name="Text 8"/>
          <p:cNvSpPr/>
          <p:nvPr/>
        </p:nvSpPr>
        <p:spPr>
          <a:xfrm>
            <a:off x="1188720" y="5742432"/>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Create mobile-friendly dashboards for emergency response teams</a:t>
            </a:r>
            <a:endParaRPr lang="en-US" sz="1350" dirty="0"/>
          </a:p>
        </p:txBody>
      </p:sp>
      <p:sp>
        <p:nvSpPr>
          <p:cNvPr id="18" name="Text 9"/>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9" name="Text 1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1225</Words>
  <Application>Microsoft Office PowerPoint</Application>
  <PresentationFormat>Widescreen</PresentationFormat>
  <Paragraphs>211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Disaster Impact Analysis Dashboard</dc:title>
  <dc:subject>PptxGenJS Presentation</dc:subject>
  <dc:creator>India Disaster Impact Analysis</dc:creator>
  <cp:lastModifiedBy>GURU</cp:lastModifiedBy>
  <cp:revision>3</cp:revision>
  <dcterms:created xsi:type="dcterms:W3CDTF">2026-07-03T08:54:05Z</dcterms:created>
  <dcterms:modified xsi:type="dcterms:W3CDTF">2026-07-03T17:11:56Z</dcterms:modified>
</cp:coreProperties>
</file>